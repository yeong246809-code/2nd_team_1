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8" r:id="rId10"/>
    <p:sldId id="269" r:id="rId11"/>
    <p:sldId id="27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6E48F-638C-9900-03A7-EA0A68F901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8D77C69-D1B1-B18F-9D3C-5F7F8201E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ED84B2-60EF-4659-029F-9424039B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8E957-E8DC-B27C-F9FE-EDDBEDC9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177A88-6B12-A202-E5EF-3ABA669D4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28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DB364-2917-06DC-13E3-A2B49653A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CF81AF-DDD4-AFDC-6F6C-A0BC6C49B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38FB9B-D206-2F94-A91D-3AEA8360B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6F3934-3AB6-19E9-277D-DB5652D6C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BA62BE-E5FC-1CD1-2F3E-5CDB91F3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737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FD208-348C-449E-279C-F8C2BAE2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E4E8F2-4923-246A-9332-B9CE8CF7C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56C065-5AB3-3E76-05B0-A7869FFED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AB89DD-9E06-B946-142C-16A266DAB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D774DF-A1A0-F83C-507F-803FDF197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60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340EE4-5D5A-FDA4-6745-6CCF3AA3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5F894-E711-FCB9-E27D-A6B7C851C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F98E97-C903-D1D8-0DD4-61AC8CF407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8D9738-D500-B175-E88B-FEE55D93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9A1A09-8ED6-0B28-097F-6127042BA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4883AC-F2E6-588A-1547-FA4F2267F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24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729692-3A94-BD58-58D3-0E6156A2B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CC8D28-D0B5-BE5C-D143-86A09DC4F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DA4496A-7A2C-EAD6-16C1-1FFFDB94F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F74131-64E4-927B-9706-1A9625727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A0D257-BD35-C043-14CD-D766F9B2B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E341EF-0E2A-6AA2-DBE2-3F19878DF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57871B7-6772-9F2C-D7C9-3359C24C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F5D13FE-B0B0-ED0E-141F-0DC15B9C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048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D82531-6D56-25D8-C13B-3AAD1688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56848F-E053-AE48-179E-3F75285F4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187754-9C0D-246A-A166-037FD667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3B7200-777D-5032-C305-C444FD686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236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16215E-A1D9-4313-47A2-C17697A1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D1E05E-23CE-CB33-C780-291B2339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F078A-C714-32CC-26D7-B6F2FE57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5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51541-AC16-B227-564B-878C9E4BD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0296FF-B3D0-5271-494B-8710D35D8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D03305-1829-D809-B744-B212D2866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6420F8-3123-9B45-FC33-64727CBEB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14DBBF-676E-2906-ADC7-45989443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A47FA0-41E1-6680-5F9B-F48DE4B4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586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002DC-3933-1D06-6AEE-6352E04C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041C33-A9DE-E1F5-A8D8-B780BE20E1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B8C700-F45F-C75C-FBD1-A3709D385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CE2FBF-4B07-DBFE-7BD0-AEB4EAB7F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14F0DC-F142-FB07-A336-439072B8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6A6A17-BDCF-1584-580E-8B3AF4D4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077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0BBDF8-9DED-AFF4-D3F4-3BB97C5E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265F71-3510-C501-5799-2C5C6723F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7D5B5-9D7D-FD95-299A-BCBFE8947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E914BE-2E80-10B6-9711-F260BEA4D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756761-2483-CDFB-CCEE-AC73F4BA7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08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99AE194-F581-CEBA-3943-000D35AB08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32D2C2-6DCA-CE55-932A-6E56943D3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98683C-DA31-D45E-C2F5-F7EBB36C8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61AF69-DF3B-625E-4B4D-AEC07EB4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D0344-F110-1064-B905-17BF488F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53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E35A14-25E0-DD02-5444-731AB0AC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27986B-9357-63C8-B711-7514A832E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FB6F4-19CF-0CE9-7129-DABE3188E5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09C3D-5219-4422-964E-1B9B278FDD4F}" type="datetimeFigureOut">
              <a:rPr lang="ko-KR" altLang="en-US" smtClean="0"/>
              <a:t>2026-07-15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35D5CB-0728-8464-0F74-A28414A536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4DE5B-F105-4E5B-023B-72AA488837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B6A0EF-1C9C-4B4E-BD02-14B44E682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11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9E640C5-7862-62AB-9EA3-3EDA2E85C1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C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22C4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9373E12-CA7E-6609-0260-1AB56BFC808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2BCF5-CFC6-C17E-8CAC-C7E07DD78546}"/>
              </a:ext>
            </a:extLst>
          </p:cNvPr>
          <p:cNvSpPr txBox="1"/>
          <p:nvPr/>
        </p:nvSpPr>
        <p:spPr>
          <a:xfrm>
            <a:off x="889000" y="9144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AAB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BOOT TEAM PROJECT</a:t>
            </a:r>
            <a:endParaRPr lang="ko-KR" altLang="en-US" sz="1200" b="1">
              <a:solidFill>
                <a:srgbClr val="2AABB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97B3D6-32F7-548C-EBC4-C23FEB225A2D}"/>
              </a:ext>
            </a:extLst>
          </p:cNvPr>
          <p:cNvSpPr txBox="1"/>
          <p:nvPr/>
        </p:nvSpPr>
        <p:spPr>
          <a:xfrm>
            <a:off x="863600" y="1600200"/>
            <a:ext cx="762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4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</a:t>
            </a:r>
            <a:endParaRPr lang="ko-KR" altLang="en-US" sz="48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A804D7-9898-11FB-2B34-DD9A3305429C}"/>
              </a:ext>
            </a:extLst>
          </p:cNvPr>
          <p:cNvSpPr txBox="1"/>
          <p:nvPr/>
        </p:nvSpPr>
        <p:spPr>
          <a:xfrm>
            <a:off x="889000" y="2667000"/>
            <a:ext cx="774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>
                <a:solidFill>
                  <a:srgbClr val="DEEBF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쇼핑몰 웹 서비스 최종 발표 보고서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EC5C09A-1C26-BE5E-2E91-D91153E58519}"/>
              </a:ext>
            </a:extLst>
          </p:cNvPr>
          <p:cNvCxnSpPr/>
          <p:nvPr/>
        </p:nvCxnSpPr>
        <p:spPr>
          <a:xfrm>
            <a:off x="889000" y="3683000"/>
            <a:ext cx="10414000" cy="0"/>
          </a:xfrm>
          <a:prstGeom prst="line">
            <a:avLst/>
          </a:prstGeom>
          <a:ln w="12700">
            <a:solidFill>
              <a:srgbClr val="4B6B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DCE6A0E-6C3E-00A6-D776-25D08D430837}"/>
              </a:ext>
            </a:extLst>
          </p:cNvPr>
          <p:cNvSpPr txBox="1"/>
          <p:nvPr/>
        </p:nvSpPr>
        <p:spPr>
          <a:xfrm>
            <a:off x="889000" y="4013200"/>
            <a:ext cx="1016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>
                <a:solidFill>
                  <a:srgbClr val="ABC8D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MVC · Security · JPA · QueryDSL · MyBatis · Thymeleaf</a:t>
            </a:r>
            <a:endParaRPr lang="ko-KR" altLang="en-US" sz="1500">
              <a:solidFill>
                <a:srgbClr val="ABC8D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75B2AC-51F6-FB9B-6E76-DDFBF9830C74}"/>
              </a:ext>
            </a:extLst>
          </p:cNvPr>
          <p:cNvSpPr txBox="1"/>
          <p:nvPr/>
        </p:nvSpPr>
        <p:spPr>
          <a:xfrm>
            <a:off x="889000" y="5461000"/>
            <a:ext cx="863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  강현주 </a:t>
            </a: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이찬영 </a:t>
            </a: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남수아 </a:t>
            </a: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강재은 </a:t>
            </a:r>
            <a:r>
              <a:rPr lang="en-US" altLang="ko-KR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한성주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6B8EB1-2226-D998-6CF6-83238347BBAB}"/>
              </a:ext>
            </a:extLst>
          </p:cNvPr>
          <p:cNvSpPr txBox="1"/>
          <p:nvPr/>
        </p:nvSpPr>
        <p:spPr>
          <a:xfrm>
            <a:off x="889000" y="59182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AAB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발표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0B6DE58-3C22-DA84-102E-51EC654F589A}"/>
              </a:ext>
            </a:extLst>
          </p:cNvPr>
          <p:cNvSpPr/>
          <p:nvPr/>
        </p:nvSpPr>
        <p:spPr>
          <a:xfrm>
            <a:off x="10033000" y="1092200"/>
            <a:ext cx="1320800" cy="1320800"/>
          </a:xfrm>
          <a:prstGeom prst="ellipse">
            <a:avLst/>
          </a:prstGeom>
          <a:solidFill>
            <a:srgbClr val="2AAB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2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</a:t>
            </a:r>
            <a:endParaRPr lang="ko-KR" altLang="en-US" sz="42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322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740C539-3EDD-F135-002A-85969ABB6C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0914C12-46B4-3761-259E-CD1DE9BEAEE6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1975D563-38A0-844D-9261-D505E0733D9A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4ABDC-B7EA-68D0-0B67-38591A3D6F1E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E4C96B-F2C7-EDBF-180F-2549129B29AF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발표보고서 목차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B4DF590-8A85-70D4-667D-91CB997C7ABB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16CFC4-D6A4-987B-B460-FEEB4431F773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02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0980E51-1C4B-6ABC-9D82-AF13965585D8}"/>
              </a:ext>
            </a:extLst>
          </p:cNvPr>
          <p:cNvSpPr/>
          <p:nvPr/>
        </p:nvSpPr>
        <p:spPr>
          <a:xfrm>
            <a:off x="914400" y="19050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C8A6FA-599B-6B05-5E78-C8238C52B6BE}"/>
              </a:ext>
            </a:extLst>
          </p:cNvPr>
          <p:cNvSpPr txBox="1"/>
          <p:nvPr/>
        </p:nvSpPr>
        <p:spPr>
          <a:xfrm>
            <a:off x="1651000" y="19939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9AF5B6F-0B1D-F158-3BC2-B8B1BA7ED4AF}"/>
              </a:ext>
            </a:extLst>
          </p:cNvPr>
          <p:cNvCxnSpPr/>
          <p:nvPr/>
        </p:nvCxnSpPr>
        <p:spPr>
          <a:xfrm>
            <a:off x="1651000" y="24130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33FAEDDB-6366-CC13-154B-3A85E48FFF65}"/>
              </a:ext>
            </a:extLst>
          </p:cNvPr>
          <p:cNvSpPr/>
          <p:nvPr/>
        </p:nvSpPr>
        <p:spPr>
          <a:xfrm>
            <a:off x="6311900" y="19050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6970D-DDD2-B0FF-9F6A-F1DAF715D381}"/>
              </a:ext>
            </a:extLst>
          </p:cNvPr>
          <p:cNvSpPr txBox="1"/>
          <p:nvPr/>
        </p:nvSpPr>
        <p:spPr>
          <a:xfrm>
            <a:off x="7048500" y="19939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 소개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6761020-2F9B-63D2-196B-A0FB3750D974}"/>
              </a:ext>
            </a:extLst>
          </p:cNvPr>
          <p:cNvCxnSpPr/>
          <p:nvPr/>
        </p:nvCxnSpPr>
        <p:spPr>
          <a:xfrm>
            <a:off x="7048500" y="24130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9D69ADBB-6013-1280-FB8D-DC4BBAEEDBAB}"/>
              </a:ext>
            </a:extLst>
          </p:cNvPr>
          <p:cNvSpPr/>
          <p:nvPr/>
        </p:nvSpPr>
        <p:spPr>
          <a:xfrm>
            <a:off x="914400" y="28702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E2ED64-78E9-79CA-D802-79D69133907A}"/>
              </a:ext>
            </a:extLst>
          </p:cNvPr>
          <p:cNvSpPr txBox="1"/>
          <p:nvPr/>
        </p:nvSpPr>
        <p:spPr>
          <a:xfrm>
            <a:off x="1651000" y="29591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개발 일정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12A8106-7807-C082-CF9C-82C50FD2A9CD}"/>
              </a:ext>
            </a:extLst>
          </p:cNvPr>
          <p:cNvCxnSpPr/>
          <p:nvPr/>
        </p:nvCxnSpPr>
        <p:spPr>
          <a:xfrm>
            <a:off x="1651000" y="33782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D16F6E6D-8A0B-0701-979E-C097411644EA}"/>
              </a:ext>
            </a:extLst>
          </p:cNvPr>
          <p:cNvSpPr/>
          <p:nvPr/>
        </p:nvSpPr>
        <p:spPr>
          <a:xfrm>
            <a:off x="6311900" y="28702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8A823D-0D39-5D8C-7DF3-4E57C473838A}"/>
              </a:ext>
            </a:extLst>
          </p:cNvPr>
          <p:cNvSpPr txBox="1"/>
          <p:nvPr/>
        </p:nvSpPr>
        <p:spPr>
          <a:xfrm>
            <a:off x="7048500" y="29591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아키텍처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CA7907E-BC9D-778B-A24B-CD1BA36B3C51}"/>
              </a:ext>
            </a:extLst>
          </p:cNvPr>
          <p:cNvCxnSpPr/>
          <p:nvPr/>
        </p:nvCxnSpPr>
        <p:spPr>
          <a:xfrm>
            <a:off x="7048500" y="33782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F2F530DC-EFC9-D23B-97C4-15761BB8AA75}"/>
              </a:ext>
            </a:extLst>
          </p:cNvPr>
          <p:cNvSpPr/>
          <p:nvPr/>
        </p:nvSpPr>
        <p:spPr>
          <a:xfrm>
            <a:off x="914400" y="38354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2B9391-8CBD-7630-FD6A-A700F416562E}"/>
              </a:ext>
            </a:extLst>
          </p:cNvPr>
          <p:cNvSpPr txBox="1"/>
          <p:nvPr/>
        </p:nvSpPr>
        <p:spPr>
          <a:xfrm>
            <a:off x="1651000" y="39243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구조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9196DA3-A71B-9D62-C9CC-BAF6E5A18E8A}"/>
              </a:ext>
            </a:extLst>
          </p:cNvPr>
          <p:cNvCxnSpPr/>
          <p:nvPr/>
        </p:nvCxnSpPr>
        <p:spPr>
          <a:xfrm>
            <a:off x="1651000" y="43434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BB05C63A-A853-5202-1DB8-D44AF7E86989}"/>
              </a:ext>
            </a:extLst>
          </p:cNvPr>
          <p:cNvSpPr/>
          <p:nvPr/>
        </p:nvSpPr>
        <p:spPr>
          <a:xfrm>
            <a:off x="6311900" y="38354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8381E4-DA32-DA5E-E9BE-603247C2C0E9}"/>
              </a:ext>
            </a:extLst>
          </p:cNvPr>
          <p:cNvSpPr txBox="1"/>
          <p:nvPr/>
        </p:nvSpPr>
        <p:spPr>
          <a:xfrm>
            <a:off x="7048500" y="39243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  <a:r>
              <a:rPr lang="en-US" altLang="ko-KR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  <a:endParaRPr lang="ko-KR" altLang="en-US" sz="1700" b="1">
              <a:solidFill>
                <a:srgbClr val="1D2A3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2F5F3FF2-9ECE-DA13-88AA-F5094E88B6BF}"/>
              </a:ext>
            </a:extLst>
          </p:cNvPr>
          <p:cNvCxnSpPr/>
          <p:nvPr/>
        </p:nvCxnSpPr>
        <p:spPr>
          <a:xfrm>
            <a:off x="7048500" y="43434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타원 26">
            <a:extLst>
              <a:ext uri="{FF2B5EF4-FFF2-40B4-BE49-F238E27FC236}">
                <a16:creationId xmlns:a16="http://schemas.microsoft.com/office/drawing/2014/main" id="{E8A4B611-694A-314D-6500-B5D0E4978502}"/>
              </a:ext>
            </a:extLst>
          </p:cNvPr>
          <p:cNvSpPr/>
          <p:nvPr/>
        </p:nvSpPr>
        <p:spPr>
          <a:xfrm>
            <a:off x="914400" y="4800600"/>
            <a:ext cx="533400" cy="533400"/>
          </a:xfrm>
          <a:prstGeom prst="ellipse">
            <a:avLst/>
          </a:prstGeom>
          <a:solidFill>
            <a:srgbClr val="F491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C1499E-3954-EFBE-98F0-350A5A2228F8}"/>
              </a:ext>
            </a:extLst>
          </p:cNvPr>
          <p:cNvSpPr txBox="1"/>
          <p:nvPr/>
        </p:nvSpPr>
        <p:spPr>
          <a:xfrm>
            <a:off x="1651000" y="48895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시연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8CD79A5-DAC3-F189-69BC-C665C4BD5618}"/>
              </a:ext>
            </a:extLst>
          </p:cNvPr>
          <p:cNvCxnSpPr/>
          <p:nvPr/>
        </p:nvCxnSpPr>
        <p:spPr>
          <a:xfrm>
            <a:off x="1651000" y="53086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8AE4BF1F-9AC0-7C51-B198-D7DE1541982B}"/>
              </a:ext>
            </a:extLst>
          </p:cNvPr>
          <p:cNvSpPr/>
          <p:nvPr/>
        </p:nvSpPr>
        <p:spPr>
          <a:xfrm>
            <a:off x="6311900" y="4800600"/>
            <a:ext cx="533400" cy="5334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D1C464-8D75-16CF-D51B-3ACC39FFCBA4}"/>
              </a:ext>
            </a:extLst>
          </p:cNvPr>
          <p:cNvSpPr txBox="1"/>
          <p:nvPr/>
        </p:nvSpPr>
        <p:spPr>
          <a:xfrm>
            <a:off x="7048500" y="4889500"/>
            <a:ext cx="393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및 답변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B6AC88F4-2CE5-7FD1-26A7-67F9ABF5911F}"/>
              </a:ext>
            </a:extLst>
          </p:cNvPr>
          <p:cNvCxnSpPr/>
          <p:nvPr/>
        </p:nvCxnSpPr>
        <p:spPr>
          <a:xfrm>
            <a:off x="7048500" y="5308600"/>
            <a:ext cx="3835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26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2075B91-3864-0080-708E-D929E36233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4AA135A-C37A-87F2-1157-2B01CF081135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AE78E4-D8C2-4DB6-3ED8-0464DB965EED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D83A97-5F49-829E-0F06-FEEF1FAB35C1}"/>
              </a:ext>
            </a:extLst>
          </p:cNvPr>
          <p:cNvSpPr txBox="1"/>
          <p:nvPr/>
        </p:nvSpPr>
        <p:spPr>
          <a:xfrm>
            <a:off x="685800" y="431800"/>
            <a:ext cx="1397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PROJECT OVERVIEW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E8E9D-0B60-1BF0-4BFA-78882FC58B83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04C6672-29E4-C9E2-FD0D-F0DB2261A29D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A16FFC-85B6-9958-0F5A-A12787873119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03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8E0450-E2F0-645C-F38E-B204C315655E}"/>
              </a:ext>
            </a:extLst>
          </p:cNvPr>
          <p:cNvSpPr txBox="1"/>
          <p:nvPr/>
        </p:nvSpPr>
        <p:spPr>
          <a:xfrm>
            <a:off x="685800" y="1803400"/>
            <a:ext cx="10795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2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</a:t>
            </a:r>
            <a:r>
              <a:rPr lang="en-US" altLang="ko-KR" sz="2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관리자를 하나의 서비스로 연결한 종합 쇼핑몰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F7CDF35-E9C1-7A55-5BF7-A77C426D3DF1}"/>
              </a:ext>
            </a:extLst>
          </p:cNvPr>
          <p:cNvSpPr/>
          <p:nvPr/>
        </p:nvSpPr>
        <p:spPr>
          <a:xfrm>
            <a:off x="685800" y="2565400"/>
            <a:ext cx="3175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97CF647-D875-6DA7-5CAE-88E61D42ACCE}"/>
              </a:ext>
            </a:extLst>
          </p:cNvPr>
          <p:cNvSpPr/>
          <p:nvPr/>
        </p:nvSpPr>
        <p:spPr>
          <a:xfrm>
            <a:off x="685800" y="2565400"/>
            <a:ext cx="88900" cy="2413000"/>
          </a:xfrm>
          <a:prstGeom prst="round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05F707-ED64-C05D-8DB4-9EF38395EEA1}"/>
              </a:ext>
            </a:extLst>
          </p:cNvPr>
          <p:cNvSpPr txBox="1"/>
          <p:nvPr/>
        </p:nvSpPr>
        <p:spPr>
          <a:xfrm>
            <a:off x="965200" y="2794000"/>
            <a:ext cx="2692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FDE102-147D-8736-591E-5E2D1533037E}"/>
              </a:ext>
            </a:extLst>
          </p:cNvPr>
          <p:cNvSpPr txBox="1"/>
          <p:nvPr/>
        </p:nvSpPr>
        <p:spPr>
          <a:xfrm>
            <a:off x="965200" y="3251200"/>
            <a:ext cx="2692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탐색과 검색
장바구니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
마이페이지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리뷰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96703F5-6E7A-E454-B3DC-A6452E2CE000}"/>
              </a:ext>
            </a:extLst>
          </p:cNvPr>
          <p:cNvSpPr/>
          <p:nvPr/>
        </p:nvSpPr>
        <p:spPr>
          <a:xfrm>
            <a:off x="4508500" y="2565400"/>
            <a:ext cx="3175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79EEE8F-17C5-E0AB-D672-88E305FE3F05}"/>
              </a:ext>
            </a:extLst>
          </p:cNvPr>
          <p:cNvSpPr/>
          <p:nvPr/>
        </p:nvSpPr>
        <p:spPr>
          <a:xfrm>
            <a:off x="4508500" y="2565400"/>
            <a:ext cx="88900" cy="2413000"/>
          </a:xfrm>
          <a:prstGeom prst="roundRect">
            <a:avLst/>
          </a:prstGeom>
          <a:solidFill>
            <a:srgbClr val="F4914A"/>
          </a:solidFill>
          <a:ln w="12700">
            <a:solidFill>
              <a:srgbClr val="F49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57E2FA-5320-A8F8-EDE0-B56E3D9C7721}"/>
              </a:ext>
            </a:extLst>
          </p:cNvPr>
          <p:cNvSpPr txBox="1"/>
          <p:nvPr/>
        </p:nvSpPr>
        <p:spPr>
          <a:xfrm>
            <a:off x="4787900" y="2794000"/>
            <a:ext cx="2692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387F93-EEB4-BE26-6C11-F03221682286}"/>
              </a:ext>
            </a:extLst>
          </p:cNvPr>
          <p:cNvSpPr txBox="1"/>
          <p:nvPr/>
        </p:nvSpPr>
        <p:spPr>
          <a:xfrm>
            <a:off x="4787900" y="3251200"/>
            <a:ext cx="2692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 관리
주문과 배송 처리
매출 현황 확인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D47F046-27CA-185F-3E7F-3497C27F58D2}"/>
              </a:ext>
            </a:extLst>
          </p:cNvPr>
          <p:cNvSpPr/>
          <p:nvPr/>
        </p:nvSpPr>
        <p:spPr>
          <a:xfrm>
            <a:off x="8331200" y="2565400"/>
            <a:ext cx="3175000" cy="241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5A60595-9388-2C55-005B-78F3F2F40B5F}"/>
              </a:ext>
            </a:extLst>
          </p:cNvPr>
          <p:cNvSpPr/>
          <p:nvPr/>
        </p:nvSpPr>
        <p:spPr>
          <a:xfrm>
            <a:off x="8331200" y="2565400"/>
            <a:ext cx="88900" cy="2413000"/>
          </a:xfrm>
          <a:prstGeom prst="roundRect">
            <a:avLst/>
          </a:prstGeom>
          <a:solidFill>
            <a:srgbClr val="419D78"/>
          </a:solidFill>
          <a:ln w="12700">
            <a:solidFill>
              <a:srgbClr val="419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AF341A-B128-DE32-283B-877CD64E4DB9}"/>
              </a:ext>
            </a:extLst>
          </p:cNvPr>
          <p:cNvSpPr txBox="1"/>
          <p:nvPr/>
        </p:nvSpPr>
        <p:spPr>
          <a:xfrm>
            <a:off x="8610600" y="2794000"/>
            <a:ext cx="2692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B79EFD-F219-41DC-00E1-9D42C36BB99B}"/>
              </a:ext>
            </a:extLst>
          </p:cNvPr>
          <p:cNvSpPr txBox="1"/>
          <p:nvPr/>
        </p:nvSpPr>
        <p:spPr>
          <a:xfrm>
            <a:off x="8610600" y="3251200"/>
            <a:ext cx="2692400" cy="5770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상점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 관리
배너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설정
고객센터와 통계 관리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8644A4C-4200-65AF-59C5-4BAC50289699}"/>
              </a:ext>
            </a:extLst>
          </p:cNvPr>
          <p:cNvSpPr/>
          <p:nvPr/>
        </p:nvSpPr>
        <p:spPr>
          <a:xfrm>
            <a:off x="685800" y="5397500"/>
            <a:ext cx="2159000" cy="355600"/>
          </a:xfrm>
          <a:prstGeom prst="roundRect">
            <a:avLst/>
          </a:prstGeom>
          <a:solidFill>
            <a:srgbClr val="122C45"/>
          </a:solidFill>
          <a:ln w="12700">
            <a:solidFill>
              <a:srgbClr val="122C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F21AEC-AD17-683E-F981-8A7EDF407DE7}"/>
              </a:ext>
            </a:extLst>
          </p:cNvPr>
          <p:cNvSpPr txBox="1"/>
          <p:nvPr/>
        </p:nvSpPr>
        <p:spPr>
          <a:xfrm>
            <a:off x="685800" y="54610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총 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73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기능</a:t>
            </a:r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4808660-A0F9-BB90-9E35-413F3CDF21DE}"/>
              </a:ext>
            </a:extLst>
          </p:cNvPr>
          <p:cNvSpPr/>
          <p:nvPr/>
        </p:nvSpPr>
        <p:spPr>
          <a:xfrm>
            <a:off x="3048000" y="5397500"/>
            <a:ext cx="1841500" cy="3556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5B5985-1454-696B-C986-DEA596D92AE5}"/>
              </a:ext>
            </a:extLst>
          </p:cNvPr>
          <p:cNvSpPr txBox="1"/>
          <p:nvPr/>
        </p:nvSpPr>
        <p:spPr>
          <a:xfrm>
            <a:off x="3048000" y="54610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30 Controllers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37C1FCE-2632-4669-1EE9-38264131A690}"/>
              </a:ext>
            </a:extLst>
          </p:cNvPr>
          <p:cNvSpPr/>
          <p:nvPr/>
        </p:nvSpPr>
        <p:spPr>
          <a:xfrm>
            <a:off x="5080000" y="5397500"/>
            <a:ext cx="1587500" cy="3556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8D8AE4-F980-358C-DD63-34E1459C6A73}"/>
              </a:ext>
            </a:extLst>
          </p:cNvPr>
          <p:cNvSpPr txBox="1"/>
          <p:nvPr/>
        </p:nvSpPr>
        <p:spPr>
          <a:xfrm>
            <a:off x="5080000" y="54610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43 Services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2EFADC7-CFFE-848C-0873-1BF46A4FAE18}"/>
              </a:ext>
            </a:extLst>
          </p:cNvPr>
          <p:cNvSpPr/>
          <p:nvPr/>
        </p:nvSpPr>
        <p:spPr>
          <a:xfrm>
            <a:off x="6858000" y="5397500"/>
            <a:ext cx="1587500" cy="3556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F8D7C0-924D-0186-A046-FD54540CB62E}"/>
              </a:ext>
            </a:extLst>
          </p:cNvPr>
          <p:cNvSpPr txBox="1"/>
          <p:nvPr/>
        </p:nvSpPr>
        <p:spPr>
          <a:xfrm>
            <a:off x="6858000" y="54610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31 Entities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62367C5-5EF2-4615-7041-06482FC8D2A5}"/>
              </a:ext>
            </a:extLst>
          </p:cNvPr>
          <p:cNvSpPr/>
          <p:nvPr/>
        </p:nvSpPr>
        <p:spPr>
          <a:xfrm>
            <a:off x="8636000" y="5397500"/>
            <a:ext cx="1841500" cy="3556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112C45-D419-EEFF-1879-31C0D28ABA49}"/>
              </a:ext>
            </a:extLst>
          </p:cNvPr>
          <p:cNvSpPr txBox="1"/>
          <p:nvPr/>
        </p:nvSpPr>
        <p:spPr>
          <a:xfrm>
            <a:off x="8636000" y="54610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70 Templates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5566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9FD0995-F351-E378-3D14-FC314F72C5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1C80A0-C2B3-C330-803E-867E2AD30FF8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B407D14-1981-4102-B305-201876AD62EF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5E8214-E8B6-93ED-EFEC-66F8C11F4551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TEAM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34D31F-DD20-8A47-1004-AB64ECE9D32E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팀원 소개 및 업무 배정 현황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771EE45-5DB9-EBF5-A537-4B70BF97DF60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BCA855C-EE6D-3525-EC5E-F223982CDFA2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04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BB667D0-8B2E-A474-3B87-B983423BD626}"/>
              </a:ext>
            </a:extLst>
          </p:cNvPr>
          <p:cNvSpPr/>
          <p:nvPr/>
        </p:nvSpPr>
        <p:spPr>
          <a:xfrm>
            <a:off x="889000" y="1905000"/>
            <a:ext cx="1397000" cy="482600"/>
          </a:xfrm>
          <a:prstGeom prst="rect">
            <a:avLst/>
          </a:prstGeom>
          <a:solidFill>
            <a:srgbClr val="122C4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E1EB29-B1E6-00FD-6394-F3DB5B1A59A6}"/>
              </a:ext>
            </a:extLst>
          </p:cNvPr>
          <p:cNvSpPr txBox="1"/>
          <p:nvPr/>
        </p:nvSpPr>
        <p:spPr>
          <a:xfrm>
            <a:off x="889000" y="2019300"/>
            <a:ext cx="139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담당자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BA6F0A-193B-18CE-F34E-E097B48F9B94}"/>
              </a:ext>
            </a:extLst>
          </p:cNvPr>
          <p:cNvSpPr/>
          <p:nvPr/>
        </p:nvSpPr>
        <p:spPr>
          <a:xfrm>
            <a:off x="2286000" y="1905000"/>
            <a:ext cx="1206500" cy="482600"/>
          </a:xfrm>
          <a:prstGeom prst="rect">
            <a:avLst/>
          </a:prstGeom>
          <a:solidFill>
            <a:srgbClr val="122C4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C6B8A-0C74-4261-5C59-B741865507E9}"/>
              </a:ext>
            </a:extLst>
          </p:cNvPr>
          <p:cNvSpPr txBox="1"/>
          <p:nvPr/>
        </p:nvSpPr>
        <p:spPr>
          <a:xfrm>
            <a:off x="2286000" y="2019300"/>
            <a:ext cx="1206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 수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0DFB890-D84B-F415-AB82-2B2F47F5A110}"/>
              </a:ext>
            </a:extLst>
          </p:cNvPr>
          <p:cNvSpPr/>
          <p:nvPr/>
        </p:nvSpPr>
        <p:spPr>
          <a:xfrm>
            <a:off x="3492500" y="1905000"/>
            <a:ext cx="6350000" cy="482600"/>
          </a:xfrm>
          <a:prstGeom prst="rect">
            <a:avLst/>
          </a:prstGeom>
          <a:solidFill>
            <a:srgbClr val="122C4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89268-078D-2371-3712-4756BCB77ED3}"/>
              </a:ext>
            </a:extLst>
          </p:cNvPr>
          <p:cNvSpPr txBox="1"/>
          <p:nvPr/>
        </p:nvSpPr>
        <p:spPr>
          <a:xfrm>
            <a:off x="3492500" y="20193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담당 영역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81B2800-077D-1A87-D7B8-9BF518952BD7}"/>
              </a:ext>
            </a:extLst>
          </p:cNvPr>
          <p:cNvSpPr/>
          <p:nvPr/>
        </p:nvSpPr>
        <p:spPr>
          <a:xfrm>
            <a:off x="9842500" y="1905000"/>
            <a:ext cx="1460500" cy="482600"/>
          </a:xfrm>
          <a:prstGeom prst="rect">
            <a:avLst/>
          </a:prstGeom>
          <a:solidFill>
            <a:srgbClr val="122C45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004D4C-67DE-0907-8481-C61646AFD375}"/>
              </a:ext>
            </a:extLst>
          </p:cNvPr>
          <p:cNvSpPr txBox="1"/>
          <p:nvPr/>
        </p:nvSpPr>
        <p:spPr>
          <a:xfrm>
            <a:off x="9842500" y="2019300"/>
            <a:ext cx="146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진행 상태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39B24-8A6F-522C-B7CB-FE9E0C36D579}"/>
              </a:ext>
            </a:extLst>
          </p:cNvPr>
          <p:cNvSpPr/>
          <p:nvPr/>
        </p:nvSpPr>
        <p:spPr>
          <a:xfrm>
            <a:off x="889000" y="2387600"/>
            <a:ext cx="1397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F1AE3F-7E27-B750-DFBF-02AEEC8BE685}"/>
              </a:ext>
            </a:extLst>
          </p:cNvPr>
          <p:cNvSpPr txBox="1"/>
          <p:nvPr/>
        </p:nvSpPr>
        <p:spPr>
          <a:xfrm>
            <a:off x="889000" y="25908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강현주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FD7A86-2018-C245-69E1-4947931B2F9C}"/>
              </a:ext>
            </a:extLst>
          </p:cNvPr>
          <p:cNvSpPr/>
          <p:nvPr/>
        </p:nvSpPr>
        <p:spPr>
          <a:xfrm>
            <a:off x="2286000" y="2387600"/>
            <a:ext cx="1206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61662D-05B6-7B98-98B8-58149980499A}"/>
              </a:ext>
            </a:extLst>
          </p:cNvPr>
          <p:cNvSpPr txBox="1"/>
          <p:nvPr/>
        </p:nvSpPr>
        <p:spPr>
          <a:xfrm>
            <a:off x="2286000" y="25908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3DA38AA-1FB8-FBA0-8706-7BC1012BE97A}"/>
              </a:ext>
            </a:extLst>
          </p:cNvPr>
          <p:cNvSpPr/>
          <p:nvPr/>
        </p:nvSpPr>
        <p:spPr>
          <a:xfrm>
            <a:off x="3492500" y="2387600"/>
            <a:ext cx="6350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D2D58F-EB5B-FB06-0B3C-764B935DC144}"/>
              </a:ext>
            </a:extLst>
          </p:cNvPr>
          <p:cNvSpPr txBox="1"/>
          <p:nvPr/>
        </p:nvSpPr>
        <p:spPr>
          <a:xfrm>
            <a:off x="3644900" y="2590800"/>
            <a:ext cx="612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회사소개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3F856B7-3DA9-2A87-D428-C865A18AE671}"/>
              </a:ext>
            </a:extLst>
          </p:cNvPr>
          <p:cNvSpPr/>
          <p:nvPr/>
        </p:nvSpPr>
        <p:spPr>
          <a:xfrm>
            <a:off x="9842500" y="2387600"/>
            <a:ext cx="1460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EC4A23-DC96-8B65-56DD-6E61B24B98F4}"/>
              </a:ext>
            </a:extLst>
          </p:cNvPr>
          <p:cNvSpPr txBox="1"/>
          <p:nvPr/>
        </p:nvSpPr>
        <p:spPr>
          <a:xfrm>
            <a:off x="9842500" y="2590800"/>
            <a:ext cx="1460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419D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배정완료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B4C4FA9-B84E-E652-B397-FCFE94F8F5BF}"/>
              </a:ext>
            </a:extLst>
          </p:cNvPr>
          <p:cNvSpPr/>
          <p:nvPr/>
        </p:nvSpPr>
        <p:spPr>
          <a:xfrm>
            <a:off x="889000" y="3048000"/>
            <a:ext cx="1397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6272AB-A73B-8B4A-D72B-A31DEC23A173}"/>
              </a:ext>
            </a:extLst>
          </p:cNvPr>
          <p:cNvSpPr txBox="1"/>
          <p:nvPr/>
        </p:nvSpPr>
        <p:spPr>
          <a:xfrm>
            <a:off x="889000" y="32512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이찬영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937ABE8-69B2-E6BF-A842-8FC3B0E41770}"/>
              </a:ext>
            </a:extLst>
          </p:cNvPr>
          <p:cNvSpPr/>
          <p:nvPr/>
        </p:nvSpPr>
        <p:spPr>
          <a:xfrm>
            <a:off x="2286000" y="3048000"/>
            <a:ext cx="1206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73029F-CF7C-9103-07DC-D0983C778CD7}"/>
              </a:ext>
            </a:extLst>
          </p:cNvPr>
          <p:cNvSpPr txBox="1"/>
          <p:nvPr/>
        </p:nvSpPr>
        <p:spPr>
          <a:xfrm>
            <a:off x="2286000" y="32512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3D38A2-F057-E1F3-4697-0A4C69B34B5F}"/>
              </a:ext>
            </a:extLst>
          </p:cNvPr>
          <p:cNvSpPr/>
          <p:nvPr/>
        </p:nvSpPr>
        <p:spPr>
          <a:xfrm>
            <a:off x="3492500" y="3048000"/>
            <a:ext cx="6350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51D1F4-C373-C4B1-A702-4CE42E86F84E}"/>
              </a:ext>
            </a:extLst>
          </p:cNvPr>
          <p:cNvSpPr txBox="1"/>
          <p:nvPr/>
        </p:nvSpPr>
        <p:spPr>
          <a:xfrm>
            <a:off x="3644900" y="3251200"/>
            <a:ext cx="612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 전체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990C4A2-F1E1-D1FA-3416-C6F1A71C2971}"/>
              </a:ext>
            </a:extLst>
          </p:cNvPr>
          <p:cNvSpPr/>
          <p:nvPr/>
        </p:nvSpPr>
        <p:spPr>
          <a:xfrm>
            <a:off x="9842500" y="3048000"/>
            <a:ext cx="1460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AF3F1-E6D1-388F-94E1-E2FD5537CBB9}"/>
              </a:ext>
            </a:extLst>
          </p:cNvPr>
          <p:cNvSpPr txBox="1"/>
          <p:nvPr/>
        </p:nvSpPr>
        <p:spPr>
          <a:xfrm>
            <a:off x="9842500" y="3251200"/>
            <a:ext cx="1460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419D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배정완료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8ECE002-F408-3EFD-EAB7-4F89B944C8E7}"/>
              </a:ext>
            </a:extLst>
          </p:cNvPr>
          <p:cNvSpPr/>
          <p:nvPr/>
        </p:nvSpPr>
        <p:spPr>
          <a:xfrm>
            <a:off x="889000" y="3708400"/>
            <a:ext cx="1397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F983D2-85CC-2021-E240-EA7812E6F75F}"/>
              </a:ext>
            </a:extLst>
          </p:cNvPr>
          <p:cNvSpPr txBox="1"/>
          <p:nvPr/>
        </p:nvSpPr>
        <p:spPr>
          <a:xfrm>
            <a:off x="889000" y="39116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남수아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F05D7D5-96A3-FA32-53FE-DEFD0ADDC2F2}"/>
              </a:ext>
            </a:extLst>
          </p:cNvPr>
          <p:cNvSpPr/>
          <p:nvPr/>
        </p:nvSpPr>
        <p:spPr>
          <a:xfrm>
            <a:off x="2286000" y="3708400"/>
            <a:ext cx="1206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D47F33-A0FA-71D7-7AD4-80C0A8B07796}"/>
              </a:ext>
            </a:extLst>
          </p:cNvPr>
          <p:cNvSpPr txBox="1"/>
          <p:nvPr/>
        </p:nvSpPr>
        <p:spPr>
          <a:xfrm>
            <a:off x="2286000" y="39116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CFDDB00-58F7-5F39-9CF9-E8D270A32D7F}"/>
              </a:ext>
            </a:extLst>
          </p:cNvPr>
          <p:cNvSpPr/>
          <p:nvPr/>
        </p:nvSpPr>
        <p:spPr>
          <a:xfrm>
            <a:off x="3492500" y="3708400"/>
            <a:ext cx="6350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ECB7D2-590D-5FD6-FF94-52FF5ED44267}"/>
              </a:ext>
            </a:extLst>
          </p:cNvPr>
          <p:cNvSpPr txBox="1"/>
          <p:nvPr/>
        </p:nvSpPr>
        <p:spPr>
          <a:xfrm>
            <a:off x="3644900" y="3911600"/>
            <a:ext cx="612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사이트 정책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0E100A0-0967-2B22-A29C-E8BA76A78797}"/>
              </a:ext>
            </a:extLst>
          </p:cNvPr>
          <p:cNvSpPr/>
          <p:nvPr/>
        </p:nvSpPr>
        <p:spPr>
          <a:xfrm>
            <a:off x="9842500" y="3708400"/>
            <a:ext cx="1460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4611136-F9A4-29C4-A83A-4BFF0862DE52}"/>
              </a:ext>
            </a:extLst>
          </p:cNvPr>
          <p:cNvSpPr txBox="1"/>
          <p:nvPr/>
        </p:nvSpPr>
        <p:spPr>
          <a:xfrm>
            <a:off x="9842500" y="3911600"/>
            <a:ext cx="1460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419D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배정완료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ACD1E80-DD0C-6BC5-51FF-BB7E5EC848E7}"/>
              </a:ext>
            </a:extLst>
          </p:cNvPr>
          <p:cNvSpPr/>
          <p:nvPr/>
        </p:nvSpPr>
        <p:spPr>
          <a:xfrm>
            <a:off x="889000" y="4368800"/>
            <a:ext cx="1397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DCB589-13A7-8CD4-A968-C9D93CA935BD}"/>
              </a:ext>
            </a:extLst>
          </p:cNvPr>
          <p:cNvSpPr txBox="1"/>
          <p:nvPr/>
        </p:nvSpPr>
        <p:spPr>
          <a:xfrm>
            <a:off x="889000" y="45720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강재은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DBB2683-5CB6-4290-25BD-95291BF3CFBE}"/>
              </a:ext>
            </a:extLst>
          </p:cNvPr>
          <p:cNvSpPr/>
          <p:nvPr/>
        </p:nvSpPr>
        <p:spPr>
          <a:xfrm>
            <a:off x="2286000" y="4368800"/>
            <a:ext cx="1206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16D570-2FB3-0438-2C90-BA9F12E8CB4C}"/>
              </a:ext>
            </a:extLst>
          </p:cNvPr>
          <p:cNvSpPr txBox="1"/>
          <p:nvPr/>
        </p:nvSpPr>
        <p:spPr>
          <a:xfrm>
            <a:off x="2286000" y="45720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8669FC7-6CE5-1DF7-4116-C7BB6DD4C6E5}"/>
              </a:ext>
            </a:extLst>
          </p:cNvPr>
          <p:cNvSpPr/>
          <p:nvPr/>
        </p:nvSpPr>
        <p:spPr>
          <a:xfrm>
            <a:off x="3492500" y="4368800"/>
            <a:ext cx="6350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7DFB83-5355-DECB-673A-BCBA32197612}"/>
              </a:ext>
            </a:extLst>
          </p:cNvPr>
          <p:cNvSpPr txBox="1"/>
          <p:nvPr/>
        </p:nvSpPr>
        <p:spPr>
          <a:xfrm>
            <a:off x="3644900" y="4572000"/>
            <a:ext cx="612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메인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상점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회원관리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1F5A8D9-B324-932E-9BAA-511C2FB55A09}"/>
              </a:ext>
            </a:extLst>
          </p:cNvPr>
          <p:cNvSpPr/>
          <p:nvPr/>
        </p:nvSpPr>
        <p:spPr>
          <a:xfrm>
            <a:off x="9842500" y="4368800"/>
            <a:ext cx="14605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275F14-325F-164E-BEE7-259B5673FB24}"/>
              </a:ext>
            </a:extLst>
          </p:cNvPr>
          <p:cNvSpPr txBox="1"/>
          <p:nvPr/>
        </p:nvSpPr>
        <p:spPr>
          <a:xfrm>
            <a:off x="9842500" y="4572000"/>
            <a:ext cx="1460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419D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배정완료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7D9A9D9-E9F9-7B9E-6E47-C726B7AC96ED}"/>
              </a:ext>
            </a:extLst>
          </p:cNvPr>
          <p:cNvSpPr/>
          <p:nvPr/>
        </p:nvSpPr>
        <p:spPr>
          <a:xfrm>
            <a:off x="889000" y="5029200"/>
            <a:ext cx="1397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D7D9AC-B7B0-A251-C10E-AA3A51008B1D}"/>
              </a:ext>
            </a:extLst>
          </p:cNvPr>
          <p:cNvSpPr txBox="1"/>
          <p:nvPr/>
        </p:nvSpPr>
        <p:spPr>
          <a:xfrm>
            <a:off x="889000" y="5232400"/>
            <a:ext cx="1397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한성주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F7DF72E-4DDD-13D7-4663-C8564F9115AE}"/>
              </a:ext>
            </a:extLst>
          </p:cNvPr>
          <p:cNvSpPr/>
          <p:nvPr/>
        </p:nvSpPr>
        <p:spPr>
          <a:xfrm>
            <a:off x="2286000" y="5029200"/>
            <a:ext cx="1206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EB8BEB-EC2B-9F31-B57C-5E6DEBE5337D}"/>
              </a:ext>
            </a:extLst>
          </p:cNvPr>
          <p:cNvSpPr txBox="1"/>
          <p:nvPr/>
        </p:nvSpPr>
        <p:spPr>
          <a:xfrm>
            <a:off x="2286000" y="52324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FCE9BD7-2CA8-E49B-19E3-1C986EA779D9}"/>
              </a:ext>
            </a:extLst>
          </p:cNvPr>
          <p:cNvSpPr/>
          <p:nvPr/>
        </p:nvSpPr>
        <p:spPr>
          <a:xfrm>
            <a:off x="3492500" y="5029200"/>
            <a:ext cx="63500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637F8B-8109-A4E4-CF11-2E78B09AFEE6}"/>
              </a:ext>
            </a:extLst>
          </p:cNvPr>
          <p:cNvSpPr txBox="1"/>
          <p:nvPr/>
        </p:nvSpPr>
        <p:spPr>
          <a:xfrm>
            <a:off x="3644900" y="5232400"/>
            <a:ext cx="6121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 매출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  <a:r>
              <a:rPr lang="en-US" altLang="ko-KR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F2AF4BD-36AE-6C9C-63E9-208CD058BE92}"/>
              </a:ext>
            </a:extLst>
          </p:cNvPr>
          <p:cNvSpPr/>
          <p:nvPr/>
        </p:nvSpPr>
        <p:spPr>
          <a:xfrm>
            <a:off x="9842500" y="5029200"/>
            <a:ext cx="1460500" cy="660400"/>
          </a:xfrm>
          <a:prstGeom prst="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3E9F0E3-20C5-6D87-39D4-A9C4BBE41079}"/>
              </a:ext>
            </a:extLst>
          </p:cNvPr>
          <p:cNvSpPr txBox="1"/>
          <p:nvPr/>
        </p:nvSpPr>
        <p:spPr>
          <a:xfrm>
            <a:off x="9842500" y="5232400"/>
            <a:ext cx="1460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419D7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배정완료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9AF6821-6B2B-80F1-7DE8-0C98EF579512}"/>
              </a:ext>
            </a:extLst>
          </p:cNvPr>
          <p:cNvSpPr txBox="1"/>
          <p:nvPr/>
        </p:nvSpPr>
        <p:spPr>
          <a:xfrm>
            <a:off x="8636000" y="5867400"/>
            <a:ext cx="266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ko-KR" altLang="en-US" sz="13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합계  </a:t>
            </a:r>
            <a:r>
              <a:rPr lang="en-US" altLang="ko-KR" sz="13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73</a:t>
            </a:r>
            <a:r>
              <a:rPr lang="ko-KR" altLang="en-US" sz="13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기능</a:t>
            </a:r>
            <a:r>
              <a:rPr lang="en-US" altLang="ko-KR" sz="13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3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페이지</a:t>
            </a:r>
          </a:p>
        </p:txBody>
      </p:sp>
    </p:spTree>
    <p:extLst>
      <p:ext uri="{BB962C8B-B14F-4D97-AF65-F5344CB8AC3E}">
        <p14:creationId xmlns:p14="http://schemas.microsoft.com/office/powerpoint/2010/main" val="358674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35E3774-E110-5568-DB41-6A0BA21B64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F6BBB3-6E93-D88A-958B-0AC1DBDE272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5809A05-AC13-92B9-C3A1-50CC6C4ECF02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8B3C5-6004-8148-C341-D3FC7191FF04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SCHEDULE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E5B4D-1D96-C61E-7915-4AAB6F8815E0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개발 일정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628151-AFA5-DBED-4603-5A79E29AD401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E29CB16-27B7-B52D-1D2F-BC51BFE96FB0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05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AC2631E8-DF05-4558-3C67-284E316E7F9C}"/>
              </a:ext>
            </a:extLst>
          </p:cNvPr>
          <p:cNvCxnSpPr/>
          <p:nvPr/>
        </p:nvCxnSpPr>
        <p:spPr>
          <a:xfrm>
            <a:off x="1498600" y="2946400"/>
            <a:ext cx="1143000" cy="0"/>
          </a:xfrm>
          <a:prstGeom prst="line">
            <a:avLst/>
          </a:prstGeom>
          <a:ln w="381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8736B7A8-E794-7592-4941-56BC69DCA186}"/>
              </a:ext>
            </a:extLst>
          </p:cNvPr>
          <p:cNvSpPr/>
          <p:nvPr/>
        </p:nvSpPr>
        <p:spPr>
          <a:xfrm>
            <a:off x="787400" y="25908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8FCE12-FECA-1EA8-6F0A-15F2AD0C0971}"/>
              </a:ext>
            </a:extLst>
          </p:cNvPr>
          <p:cNvSpPr txBox="1"/>
          <p:nvPr/>
        </p:nvSpPr>
        <p:spPr>
          <a:xfrm>
            <a:off x="4699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요구사항 분석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DEB39F-572D-AC23-DF32-173ABCFE6712}"/>
              </a:ext>
            </a:extLst>
          </p:cNvPr>
          <p:cNvSpPr txBox="1"/>
          <p:nvPr/>
        </p:nvSpPr>
        <p:spPr>
          <a:xfrm>
            <a:off x="3302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정의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 배정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478B279-2030-0FD2-2D0F-59D93056B189}"/>
              </a:ext>
            </a:extLst>
          </p:cNvPr>
          <p:cNvCxnSpPr/>
          <p:nvPr/>
        </p:nvCxnSpPr>
        <p:spPr>
          <a:xfrm>
            <a:off x="3352800" y="2946400"/>
            <a:ext cx="1143000" cy="0"/>
          </a:xfrm>
          <a:prstGeom prst="line">
            <a:avLst/>
          </a:prstGeom>
          <a:ln w="381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80A9AFC6-A106-0BEF-10AD-5D1899045426}"/>
              </a:ext>
            </a:extLst>
          </p:cNvPr>
          <p:cNvSpPr/>
          <p:nvPr/>
        </p:nvSpPr>
        <p:spPr>
          <a:xfrm>
            <a:off x="2641600" y="25908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D7094-65BF-2F80-2208-845CBC469CDC}"/>
              </a:ext>
            </a:extLst>
          </p:cNvPr>
          <p:cNvSpPr txBox="1"/>
          <p:nvPr/>
        </p:nvSpPr>
        <p:spPr>
          <a:xfrm>
            <a:off x="23241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080646-4E4F-BADA-C0DF-96257B58A992}"/>
              </a:ext>
            </a:extLst>
          </p:cNvPr>
          <p:cNvSpPr txBox="1"/>
          <p:nvPr/>
        </p:nvSpPr>
        <p:spPr>
          <a:xfrm>
            <a:off x="21844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DB · URL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671DBAA-6FD3-1A0A-F31B-EDB474512A63}"/>
              </a:ext>
            </a:extLst>
          </p:cNvPr>
          <p:cNvCxnSpPr/>
          <p:nvPr/>
        </p:nvCxnSpPr>
        <p:spPr>
          <a:xfrm>
            <a:off x="5207000" y="2946400"/>
            <a:ext cx="1143000" cy="0"/>
          </a:xfrm>
          <a:prstGeom prst="line">
            <a:avLst/>
          </a:prstGeom>
          <a:ln w="381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2B51773E-5C54-67F3-570F-075C260B6BB5}"/>
              </a:ext>
            </a:extLst>
          </p:cNvPr>
          <p:cNvSpPr/>
          <p:nvPr/>
        </p:nvSpPr>
        <p:spPr>
          <a:xfrm>
            <a:off x="4495800" y="25908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F4ADE-58E0-0503-C095-7DAA7FA527A8}"/>
              </a:ext>
            </a:extLst>
          </p:cNvPr>
          <p:cNvSpPr txBox="1"/>
          <p:nvPr/>
        </p:nvSpPr>
        <p:spPr>
          <a:xfrm>
            <a:off x="41783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공통 기반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0E5A6F-BC78-BD9C-7B38-595C6E68686E}"/>
              </a:ext>
            </a:extLst>
          </p:cNvPr>
          <p:cNvSpPr txBox="1"/>
          <p:nvPr/>
        </p:nvSpPr>
        <p:spPr>
          <a:xfrm>
            <a:off x="40386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E72941-0914-8783-C02B-617AAE90522A}"/>
              </a:ext>
            </a:extLst>
          </p:cNvPr>
          <p:cNvCxnSpPr/>
          <p:nvPr/>
        </p:nvCxnSpPr>
        <p:spPr>
          <a:xfrm>
            <a:off x="7061200" y="2946400"/>
            <a:ext cx="1143000" cy="0"/>
          </a:xfrm>
          <a:prstGeom prst="line">
            <a:avLst/>
          </a:prstGeom>
          <a:ln w="381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A34F8D15-35F8-7BF8-E201-39B8F0CBAEDD}"/>
              </a:ext>
            </a:extLst>
          </p:cNvPr>
          <p:cNvSpPr/>
          <p:nvPr/>
        </p:nvSpPr>
        <p:spPr>
          <a:xfrm>
            <a:off x="6350000" y="25908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4713F6-2F65-5E8D-C9FE-AE334BAC6540}"/>
              </a:ext>
            </a:extLst>
          </p:cNvPr>
          <p:cNvSpPr txBox="1"/>
          <p:nvPr/>
        </p:nvSpPr>
        <p:spPr>
          <a:xfrm>
            <a:off x="60325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개발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DBDB8-9C50-3068-10B0-A1A2AED5AE11}"/>
              </a:ext>
            </a:extLst>
          </p:cNvPr>
          <p:cNvSpPr txBox="1"/>
          <p:nvPr/>
        </p:nvSpPr>
        <p:spPr>
          <a:xfrm>
            <a:off x="58928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17D5CA9-2F68-F9F5-D984-C7E21FC8A2D6}"/>
              </a:ext>
            </a:extLst>
          </p:cNvPr>
          <p:cNvCxnSpPr/>
          <p:nvPr/>
        </p:nvCxnSpPr>
        <p:spPr>
          <a:xfrm>
            <a:off x="8915400" y="2946400"/>
            <a:ext cx="1143000" cy="0"/>
          </a:xfrm>
          <a:prstGeom prst="line">
            <a:avLst/>
          </a:prstGeom>
          <a:ln w="381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C7490B91-B463-CBAB-A77A-2E65026F6784}"/>
              </a:ext>
            </a:extLst>
          </p:cNvPr>
          <p:cNvSpPr/>
          <p:nvPr/>
        </p:nvSpPr>
        <p:spPr>
          <a:xfrm>
            <a:off x="8204200" y="25908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FE778B-F477-3542-16F1-906299C1C777}"/>
              </a:ext>
            </a:extLst>
          </p:cNvPr>
          <p:cNvSpPr txBox="1"/>
          <p:nvPr/>
        </p:nvSpPr>
        <p:spPr>
          <a:xfrm>
            <a:off x="78867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B9C9EC7-8059-1830-2F1F-2E54470AB2C0}"/>
              </a:ext>
            </a:extLst>
          </p:cNvPr>
          <p:cNvSpPr txBox="1"/>
          <p:nvPr/>
        </p:nvSpPr>
        <p:spPr>
          <a:xfrm>
            <a:off x="77470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병합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수정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74089FB-0669-9FCF-0DA5-7DEF351F7829}"/>
              </a:ext>
            </a:extLst>
          </p:cNvPr>
          <p:cNvSpPr/>
          <p:nvPr/>
        </p:nvSpPr>
        <p:spPr>
          <a:xfrm>
            <a:off x="10058400" y="2590800"/>
            <a:ext cx="711200" cy="711200"/>
          </a:xfrm>
          <a:prstGeom prst="ellipse">
            <a:avLst/>
          </a:prstGeom>
          <a:solidFill>
            <a:srgbClr val="F491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ACE865-CC8E-914E-7A6E-4CF39AF898E0}"/>
              </a:ext>
            </a:extLst>
          </p:cNvPr>
          <p:cNvSpPr txBox="1"/>
          <p:nvPr/>
        </p:nvSpPr>
        <p:spPr>
          <a:xfrm>
            <a:off x="9740900" y="3606800"/>
            <a:ext cx="134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마무리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2DC4319-0288-7731-7434-8D2BE709D9D9}"/>
              </a:ext>
            </a:extLst>
          </p:cNvPr>
          <p:cNvSpPr txBox="1"/>
          <p:nvPr/>
        </p:nvSpPr>
        <p:spPr>
          <a:xfrm>
            <a:off x="9601200" y="4038600"/>
            <a:ext cx="1625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테스트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배포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 준비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E5F856D-5F69-CAE6-75B8-2944C9843960}"/>
              </a:ext>
            </a:extLst>
          </p:cNvPr>
          <p:cNvSpPr/>
          <p:nvPr/>
        </p:nvSpPr>
        <p:spPr>
          <a:xfrm>
            <a:off x="889000" y="5156200"/>
            <a:ext cx="10414000" cy="6985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4A6ED8-9241-9A7A-172E-301A057E4C48}"/>
              </a:ext>
            </a:extLst>
          </p:cNvPr>
          <p:cNvSpPr txBox="1"/>
          <p:nvPr/>
        </p:nvSpPr>
        <p:spPr>
          <a:xfrm>
            <a:off x="1168400" y="5384800"/>
            <a:ext cx="990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2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수행 날짜를 발표 전 팀 일정에 맞게 입력</a:t>
            </a:r>
          </a:p>
        </p:txBody>
      </p:sp>
    </p:spTree>
    <p:extLst>
      <p:ext uri="{BB962C8B-B14F-4D97-AF65-F5344CB8AC3E}">
        <p14:creationId xmlns:p14="http://schemas.microsoft.com/office/powerpoint/2010/main" val="409833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922C63-0082-D52E-C822-468B3281B8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0D04A9-42F8-10EC-83E1-42436ABD50E1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DFA8CB72-9D7C-7385-BDE3-05D6BB351DFE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B3D09-FA32-C450-F545-39FCCDD04709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  ARCHITECTURE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44459-C126-F57B-0DD6-E9EABC9CB8FE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아키텍처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094CA13-D4DA-08FB-DAE9-1882069C63BB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89DFA60-7037-BE41-F37F-846A62E44DDA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06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A6C1823-CD7D-BFDF-D07C-2135E20623FE}"/>
              </a:ext>
            </a:extLst>
          </p:cNvPr>
          <p:cNvSpPr/>
          <p:nvPr/>
        </p:nvSpPr>
        <p:spPr>
          <a:xfrm>
            <a:off x="1320800" y="1841500"/>
            <a:ext cx="673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62FD0B-0A77-466D-F989-BC24032CB883}"/>
              </a:ext>
            </a:extLst>
          </p:cNvPr>
          <p:cNvSpPr/>
          <p:nvPr/>
        </p:nvSpPr>
        <p:spPr>
          <a:xfrm>
            <a:off x="1320800" y="1841500"/>
            <a:ext cx="1219200" cy="736600"/>
          </a:xfrm>
          <a:prstGeom prst="round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87E4E-0CC8-0708-0EF4-FC5FC7E68087}"/>
              </a:ext>
            </a:extLst>
          </p:cNvPr>
          <p:cNvSpPr txBox="1"/>
          <p:nvPr/>
        </p:nvSpPr>
        <p:spPr>
          <a:xfrm>
            <a:off x="1320800" y="2082800"/>
            <a:ext cx="121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CLIENT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DDC3D-4EC1-89D2-60F2-7C178C9162A5}"/>
              </a:ext>
            </a:extLst>
          </p:cNvPr>
          <p:cNvSpPr txBox="1"/>
          <p:nvPr/>
        </p:nvSpPr>
        <p:spPr>
          <a:xfrm>
            <a:off x="2819400" y="19685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Browser</a:t>
            </a:r>
            <a:endParaRPr lang="ko-KR" altLang="en-US" sz="16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D6346F-95A0-D371-63DD-48B9BB313F5A}"/>
              </a:ext>
            </a:extLst>
          </p:cNvPr>
          <p:cNvSpPr txBox="1"/>
          <p:nvPr/>
        </p:nvSpPr>
        <p:spPr>
          <a:xfrm>
            <a:off x="2819400" y="2273300"/>
            <a:ext cx="4889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Thymeleaf · HTML/CSS/JS</a:t>
            </a:r>
            <a:endParaRPr lang="ko-KR" altLang="en-US" sz="10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F6639B9-81C1-7595-6FEF-101C5F76CEB2}"/>
              </a:ext>
            </a:extLst>
          </p:cNvPr>
          <p:cNvCxnSpPr/>
          <p:nvPr/>
        </p:nvCxnSpPr>
        <p:spPr>
          <a:xfrm>
            <a:off x="4686300" y="2578100"/>
            <a:ext cx="0" cy="24130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D29E849-DE5C-93F8-C325-F9544E68FA1E}"/>
              </a:ext>
            </a:extLst>
          </p:cNvPr>
          <p:cNvSpPr/>
          <p:nvPr/>
        </p:nvSpPr>
        <p:spPr>
          <a:xfrm>
            <a:off x="1320800" y="2832100"/>
            <a:ext cx="673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D64BC2F-FEED-0F6D-EB95-138F76F3C552}"/>
              </a:ext>
            </a:extLst>
          </p:cNvPr>
          <p:cNvSpPr/>
          <p:nvPr/>
        </p:nvSpPr>
        <p:spPr>
          <a:xfrm>
            <a:off x="1320800" y="2832100"/>
            <a:ext cx="1219200" cy="736600"/>
          </a:xfrm>
          <a:prstGeom prst="roundRect">
            <a:avLst/>
          </a:prstGeom>
          <a:solidFill>
            <a:srgbClr val="28669C"/>
          </a:solidFill>
          <a:ln w="12700">
            <a:solidFill>
              <a:srgbClr val="286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7C2D3C-47E1-A462-F1A4-2F2066EA2D4C}"/>
              </a:ext>
            </a:extLst>
          </p:cNvPr>
          <p:cNvSpPr txBox="1"/>
          <p:nvPr/>
        </p:nvSpPr>
        <p:spPr>
          <a:xfrm>
            <a:off x="1320800" y="3073400"/>
            <a:ext cx="121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A9D4E-24CB-D5DF-3AA0-E1BEF39C80A6}"/>
              </a:ext>
            </a:extLst>
          </p:cNvPr>
          <p:cNvSpPr txBox="1"/>
          <p:nvPr/>
        </p:nvSpPr>
        <p:spPr>
          <a:xfrm>
            <a:off x="2819400" y="29591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</a:t>
            </a:r>
            <a:endParaRPr lang="ko-KR" altLang="en-US" sz="16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20D94-CB55-6657-6F95-2A71C722EC32}"/>
              </a:ext>
            </a:extLst>
          </p:cNvPr>
          <p:cNvSpPr txBox="1"/>
          <p:nvPr/>
        </p:nvSpPr>
        <p:spPr>
          <a:xfrm>
            <a:off x="2819400" y="3263900"/>
            <a:ext cx="4889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요청 매핑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View Model</a:t>
            </a:r>
            <a:endParaRPr lang="ko-KR" altLang="en-US" sz="10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350B79A5-1B78-B876-65EF-1E8E7EE90FE2}"/>
              </a:ext>
            </a:extLst>
          </p:cNvPr>
          <p:cNvCxnSpPr/>
          <p:nvPr/>
        </p:nvCxnSpPr>
        <p:spPr>
          <a:xfrm>
            <a:off x="4686300" y="3568700"/>
            <a:ext cx="0" cy="24130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BF846F1-09EC-ACA6-A148-65B87DB93424}"/>
              </a:ext>
            </a:extLst>
          </p:cNvPr>
          <p:cNvSpPr/>
          <p:nvPr/>
        </p:nvSpPr>
        <p:spPr>
          <a:xfrm>
            <a:off x="1320800" y="3822700"/>
            <a:ext cx="673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12981AB-3817-BECE-8AAE-679C39411250}"/>
              </a:ext>
            </a:extLst>
          </p:cNvPr>
          <p:cNvSpPr/>
          <p:nvPr/>
        </p:nvSpPr>
        <p:spPr>
          <a:xfrm>
            <a:off x="1320800" y="3822700"/>
            <a:ext cx="1219200" cy="736600"/>
          </a:xfrm>
          <a:prstGeom prst="roundRect">
            <a:avLst/>
          </a:prstGeom>
          <a:solidFill>
            <a:srgbClr val="F4914A"/>
          </a:solidFill>
          <a:ln w="12700">
            <a:solidFill>
              <a:srgbClr val="F49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B2316B-76EF-C23F-C7A5-91CC2E076A2A}"/>
              </a:ext>
            </a:extLst>
          </p:cNvPr>
          <p:cNvSpPr txBox="1"/>
          <p:nvPr/>
        </p:nvSpPr>
        <p:spPr>
          <a:xfrm>
            <a:off x="1320800" y="4064000"/>
            <a:ext cx="121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DOMAIN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E2371-BAC1-2AEA-4520-2F7AC5DD3C03}"/>
              </a:ext>
            </a:extLst>
          </p:cNvPr>
          <p:cNvSpPr txBox="1"/>
          <p:nvPr/>
        </p:nvSpPr>
        <p:spPr>
          <a:xfrm>
            <a:off x="2819400" y="39497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Service</a:t>
            </a:r>
            <a:endParaRPr lang="ko-KR" altLang="en-US" sz="16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C635EF-43BB-0CF2-5B37-FB870C87A8B6}"/>
              </a:ext>
            </a:extLst>
          </p:cNvPr>
          <p:cNvSpPr txBox="1"/>
          <p:nvPr/>
        </p:nvSpPr>
        <p:spPr>
          <a:xfrm>
            <a:off x="2819400" y="4254500"/>
            <a:ext cx="4889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비즈니스 로직 </a:t>
            </a:r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@Transactional</a:t>
            </a:r>
            <a:endParaRPr lang="ko-KR" altLang="en-US" sz="10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1278027-BCA7-5348-1934-6D4B962DB1EB}"/>
              </a:ext>
            </a:extLst>
          </p:cNvPr>
          <p:cNvCxnSpPr/>
          <p:nvPr/>
        </p:nvCxnSpPr>
        <p:spPr>
          <a:xfrm>
            <a:off x="4686300" y="4559300"/>
            <a:ext cx="0" cy="24130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8DD9A3E-F280-B7A7-3FA8-86E99431E4FC}"/>
              </a:ext>
            </a:extLst>
          </p:cNvPr>
          <p:cNvSpPr/>
          <p:nvPr/>
        </p:nvSpPr>
        <p:spPr>
          <a:xfrm>
            <a:off x="1320800" y="4813300"/>
            <a:ext cx="6731000" cy="73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E0067A3-E823-0AD1-60BE-DFF8DE99AFAD}"/>
              </a:ext>
            </a:extLst>
          </p:cNvPr>
          <p:cNvSpPr/>
          <p:nvPr/>
        </p:nvSpPr>
        <p:spPr>
          <a:xfrm>
            <a:off x="1320800" y="4813300"/>
            <a:ext cx="1219200" cy="736600"/>
          </a:xfrm>
          <a:prstGeom prst="roundRect">
            <a:avLst/>
          </a:prstGeom>
          <a:solidFill>
            <a:srgbClr val="419D78"/>
          </a:solidFill>
          <a:ln w="12700">
            <a:solidFill>
              <a:srgbClr val="419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2B777B-C211-67EC-448C-605CB26BCA1A}"/>
              </a:ext>
            </a:extLst>
          </p:cNvPr>
          <p:cNvSpPr txBox="1"/>
          <p:nvPr/>
        </p:nvSpPr>
        <p:spPr>
          <a:xfrm>
            <a:off x="1320800" y="5054600"/>
            <a:ext cx="12192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DATA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2A8F9B-0E0C-4EA3-6985-56FBFF3F53E8}"/>
              </a:ext>
            </a:extLst>
          </p:cNvPr>
          <p:cNvSpPr txBox="1"/>
          <p:nvPr/>
        </p:nvSpPr>
        <p:spPr>
          <a:xfrm>
            <a:off x="2819400" y="4940300"/>
            <a:ext cx="2222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Repository / DAO</a:t>
            </a:r>
            <a:endParaRPr lang="ko-KR" altLang="en-US" sz="16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B3C6BE-9EFE-27E8-0D07-86E659663C52}"/>
              </a:ext>
            </a:extLst>
          </p:cNvPr>
          <p:cNvSpPr txBox="1"/>
          <p:nvPr/>
        </p:nvSpPr>
        <p:spPr>
          <a:xfrm>
            <a:off x="2819400" y="5245100"/>
            <a:ext cx="48895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JPA · QueryDSL · MyBatis</a:t>
            </a:r>
            <a:endParaRPr lang="ko-KR" altLang="en-US" sz="10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398A36-A335-E859-C1B2-C75E1F9B9C08}"/>
              </a:ext>
            </a:extLst>
          </p:cNvPr>
          <p:cNvSpPr/>
          <p:nvPr/>
        </p:nvSpPr>
        <p:spPr>
          <a:xfrm>
            <a:off x="8661400" y="1841500"/>
            <a:ext cx="2844800" cy="273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0B3F3C99-2376-1C08-1571-61E91F21F172}"/>
              </a:ext>
            </a:extLst>
          </p:cNvPr>
          <p:cNvSpPr/>
          <p:nvPr/>
        </p:nvSpPr>
        <p:spPr>
          <a:xfrm>
            <a:off x="8661400" y="1841500"/>
            <a:ext cx="88900" cy="2730500"/>
          </a:xfrm>
          <a:prstGeom prst="round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62F2D-425A-F9D8-801E-0A56C9DFD66A}"/>
              </a:ext>
            </a:extLst>
          </p:cNvPr>
          <p:cNvSpPr txBox="1"/>
          <p:nvPr/>
        </p:nvSpPr>
        <p:spPr>
          <a:xfrm>
            <a:off x="8940800" y="2070100"/>
            <a:ext cx="2362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연동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EB460A-C24E-A96A-023F-C6FDC5DC6177}"/>
              </a:ext>
            </a:extLst>
          </p:cNvPr>
          <p:cNvSpPr txBox="1"/>
          <p:nvPr/>
        </p:nvSpPr>
        <p:spPr>
          <a:xfrm>
            <a:off x="8940800" y="2527300"/>
            <a:ext cx="23622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MySQL
AWS S3
SMTP Mail
Kakao · Naver · Google OAuth2</a:t>
            </a:r>
            <a:endParaRPr lang="ko-KR" altLang="en-US" sz="12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97BA3BF-8292-CF43-3113-5B69F689A1BD}"/>
              </a:ext>
            </a:extLst>
          </p:cNvPr>
          <p:cNvSpPr/>
          <p:nvPr/>
        </p:nvSpPr>
        <p:spPr>
          <a:xfrm>
            <a:off x="8890000" y="4953000"/>
            <a:ext cx="2159000" cy="355600"/>
          </a:xfrm>
          <a:prstGeom prst="roundRect">
            <a:avLst/>
          </a:prstGeom>
          <a:solidFill>
            <a:srgbClr val="122C45"/>
          </a:solidFill>
          <a:ln w="12700">
            <a:solidFill>
              <a:srgbClr val="122C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B7FC64-AEAB-9C8D-B74A-C1B7190620F4}"/>
              </a:ext>
            </a:extLst>
          </p:cNvPr>
          <p:cNvSpPr txBox="1"/>
          <p:nvPr/>
        </p:nvSpPr>
        <p:spPr>
          <a:xfrm>
            <a:off x="8890000" y="50165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Spring Security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9F93CC-877D-6998-5C1F-4FB55ABC3E82}"/>
              </a:ext>
            </a:extLst>
          </p:cNvPr>
          <p:cNvSpPr txBox="1"/>
          <p:nvPr/>
        </p:nvSpPr>
        <p:spPr>
          <a:xfrm>
            <a:off x="8890000" y="5461000"/>
            <a:ext cx="2159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 기반 접근 제어
</a:t>
            </a:r>
            <a:r>
              <a:rPr lang="en-US" altLang="ko-KR" sz="11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USER · SELLER · ADMIN</a:t>
            </a:r>
            <a:endParaRPr lang="ko-KR" altLang="en-US" sz="11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6103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D133E97-9EC0-EB2F-454A-30E0CB64B0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9F16718-8D05-B025-E3B1-BC4299B881E9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78806CAD-C387-0FAE-DFDD-0BD1BB46C40E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5D04C2-C7D6-4FF9-2074-C76AF12B3FC4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  STRUCTURE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798767-7211-6167-5A0A-C8FE5073D4C8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정보구조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1631982-0EC2-927F-1373-C398DF331FBC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F28FD51-10E0-D8B4-0630-64EF49F5260B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07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349F3A-C320-F661-41D8-27C3961AFA99}"/>
              </a:ext>
            </a:extLst>
          </p:cNvPr>
          <p:cNvSpPr txBox="1"/>
          <p:nvPr/>
        </p:nvSpPr>
        <p:spPr>
          <a:xfrm>
            <a:off x="685800" y="18034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역할별 화면과 기능을 분리하고 공통 계층을 공유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9826A78-C0AA-4D6E-F715-BD12DB22FA71}"/>
              </a:ext>
            </a:extLst>
          </p:cNvPr>
          <p:cNvSpPr/>
          <p:nvPr/>
        </p:nvSpPr>
        <p:spPr>
          <a:xfrm>
            <a:off x="812800" y="2540000"/>
            <a:ext cx="609600" cy="609600"/>
          </a:xfrm>
          <a:prstGeom prst="ellipse">
            <a:avLst/>
          </a:prstGeom>
          <a:solidFill>
            <a:srgbClr val="2AAB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9573A6-54D3-FDF4-65C7-4BE3E2D811B4}"/>
              </a:ext>
            </a:extLst>
          </p:cNvPr>
          <p:cNvSpPr txBox="1"/>
          <p:nvPr/>
        </p:nvSpPr>
        <p:spPr>
          <a:xfrm>
            <a:off x="1676400" y="24892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영역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C6AAB10-63DA-DAD1-62E3-9299B7FA07C4}"/>
              </a:ext>
            </a:extLst>
          </p:cNvPr>
          <p:cNvSpPr/>
          <p:nvPr/>
        </p:nvSpPr>
        <p:spPr>
          <a:xfrm>
            <a:off x="3619500" y="2451100"/>
            <a:ext cx="2413000" cy="3556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50CA3-DC17-48CB-1C25-18C076B0A4EE}"/>
              </a:ext>
            </a:extLst>
          </p:cNvPr>
          <p:cNvSpPr txBox="1"/>
          <p:nvPr/>
        </p:nvSpPr>
        <p:spPr>
          <a:xfrm>
            <a:off x="3619500" y="25146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/member  /product  /my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CB9242-770D-157F-0A6C-80DAA7765A4B}"/>
              </a:ext>
            </a:extLst>
          </p:cNvPr>
          <p:cNvSpPr txBox="1"/>
          <p:nvPr/>
        </p:nvSpPr>
        <p:spPr>
          <a:xfrm>
            <a:off x="6350000" y="2489200"/>
            <a:ext cx="4953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마이페이지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201FC-091C-059A-5C8F-7D71AF6940C0}"/>
              </a:ext>
            </a:extLst>
          </p:cNvPr>
          <p:cNvSpPr/>
          <p:nvPr/>
        </p:nvSpPr>
        <p:spPr>
          <a:xfrm>
            <a:off x="812800" y="3708400"/>
            <a:ext cx="609600" cy="609600"/>
          </a:xfrm>
          <a:prstGeom prst="ellipse">
            <a:avLst/>
          </a:prstGeom>
          <a:solidFill>
            <a:srgbClr val="F491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FFFBF5-5665-4DF0-9CCD-4BDC5278E58E}"/>
              </a:ext>
            </a:extLst>
          </p:cNvPr>
          <p:cNvSpPr txBox="1"/>
          <p:nvPr/>
        </p:nvSpPr>
        <p:spPr>
          <a:xfrm>
            <a:off x="1676400" y="36576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영역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78E4DF-1E2E-7094-1C4C-CEFC662E57CE}"/>
              </a:ext>
            </a:extLst>
          </p:cNvPr>
          <p:cNvSpPr/>
          <p:nvPr/>
        </p:nvSpPr>
        <p:spPr>
          <a:xfrm>
            <a:off x="3619500" y="3619500"/>
            <a:ext cx="2413000" cy="3556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67004F-318D-BDA0-6514-BCEA269B4385}"/>
              </a:ext>
            </a:extLst>
          </p:cNvPr>
          <p:cNvSpPr txBox="1"/>
          <p:nvPr/>
        </p:nvSpPr>
        <p:spPr>
          <a:xfrm>
            <a:off x="3619500" y="3683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/admin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03A33E-6C14-821B-DC65-246BF73AD4BD}"/>
              </a:ext>
            </a:extLst>
          </p:cNvPr>
          <p:cNvSpPr txBox="1"/>
          <p:nvPr/>
        </p:nvSpPr>
        <p:spPr>
          <a:xfrm>
            <a:off x="6350000" y="3657600"/>
            <a:ext cx="4953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상점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환경설정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2D5BE31E-8B07-9ACA-845E-F7A4F3993B90}"/>
              </a:ext>
            </a:extLst>
          </p:cNvPr>
          <p:cNvSpPr/>
          <p:nvPr/>
        </p:nvSpPr>
        <p:spPr>
          <a:xfrm>
            <a:off x="812800" y="4876800"/>
            <a:ext cx="609600" cy="609600"/>
          </a:xfrm>
          <a:prstGeom prst="ellipse">
            <a:avLst/>
          </a:prstGeom>
          <a:solidFill>
            <a:srgbClr val="419D7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752177-C84C-8AFC-0AC1-6CE581455F52}"/>
              </a:ext>
            </a:extLst>
          </p:cNvPr>
          <p:cNvSpPr txBox="1"/>
          <p:nvPr/>
        </p:nvSpPr>
        <p:spPr>
          <a:xfrm>
            <a:off x="1676400" y="4826000"/>
            <a:ext cx="190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고객지원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2EF0A6F-44E5-95E4-C237-7B628DE352F0}"/>
              </a:ext>
            </a:extLst>
          </p:cNvPr>
          <p:cNvSpPr/>
          <p:nvPr/>
        </p:nvSpPr>
        <p:spPr>
          <a:xfrm>
            <a:off x="3619500" y="4787900"/>
            <a:ext cx="2413000" cy="3556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F4F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AC04BD-14E4-6C61-80CA-1369757889A5}"/>
              </a:ext>
            </a:extLst>
          </p:cNvPr>
          <p:cNvSpPr txBox="1"/>
          <p:nvPr/>
        </p:nvSpPr>
        <p:spPr>
          <a:xfrm>
            <a:off x="3619500" y="48514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/cs  /policy  /company</a:t>
            </a:r>
            <a:endParaRPr lang="ko-KR" altLang="en-US" sz="11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366C2C-BD82-49F5-3E5B-7CB6AAE339B5}"/>
              </a:ext>
            </a:extLst>
          </p:cNvPr>
          <p:cNvSpPr txBox="1"/>
          <p:nvPr/>
        </p:nvSpPr>
        <p:spPr>
          <a:xfrm>
            <a:off x="6350000" y="4826000"/>
            <a:ext cx="4953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FAQ · Q&amp;A 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약관 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회사소개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0211D62-6C29-6FDA-4428-3E0C917EE068}"/>
              </a:ext>
            </a:extLst>
          </p:cNvPr>
          <p:cNvCxnSpPr/>
          <p:nvPr/>
        </p:nvCxnSpPr>
        <p:spPr>
          <a:xfrm>
            <a:off x="1117600" y="3149600"/>
            <a:ext cx="0" cy="558800"/>
          </a:xfrm>
          <a:prstGeom prst="line">
            <a:avLst/>
          </a:prstGeom>
          <a:ln w="254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6BACAAF-E807-690A-B5A4-3C51943F5948}"/>
              </a:ext>
            </a:extLst>
          </p:cNvPr>
          <p:cNvCxnSpPr/>
          <p:nvPr/>
        </p:nvCxnSpPr>
        <p:spPr>
          <a:xfrm>
            <a:off x="1117600" y="4318000"/>
            <a:ext cx="0" cy="558800"/>
          </a:xfrm>
          <a:prstGeom prst="line">
            <a:avLst/>
          </a:prstGeom>
          <a:ln w="254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84D77FD-EE88-947E-A56B-3FCDA0E27B06}"/>
              </a:ext>
            </a:extLst>
          </p:cNvPr>
          <p:cNvSpPr txBox="1"/>
          <p:nvPr/>
        </p:nvSpPr>
        <p:spPr>
          <a:xfrm>
            <a:off x="2286000" y="5943600"/>
            <a:ext cx="762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5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Controller  →  Service  →  Repository/DAO  →  Database</a:t>
            </a:r>
            <a:endParaRPr lang="ko-KR" altLang="en-US" sz="15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1265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019E652-A70B-74FB-E1D0-62F24A53E0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F64497-0F11-0118-9AAF-11714234DADB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7BC7B92-1620-5BEC-54A1-FE31BC1626D5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DEF80-60EA-D3CC-A0A3-00B866808F10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  ERD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26DB7-C821-A20C-22C1-1D6C38E418CD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</a:t>
            </a:r>
            <a:r>
              <a:rPr lang="en-US" altLang="ko-KR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 — </a:t>
            </a:r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도메인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EB69EA5-E90E-838C-E802-69EA423FDD83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8742F3A-5C86-8D8F-934C-7E3215920754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08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B23A65F-D7CD-9CC5-578A-D57404D11081}"/>
              </a:ext>
            </a:extLst>
          </p:cNvPr>
          <p:cNvSpPr/>
          <p:nvPr/>
        </p:nvSpPr>
        <p:spPr>
          <a:xfrm>
            <a:off x="812800" y="2057400"/>
            <a:ext cx="1841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7E141C-347A-5C42-FAE1-EBBE03B5BE5F}"/>
              </a:ext>
            </a:extLst>
          </p:cNvPr>
          <p:cNvSpPr/>
          <p:nvPr/>
        </p:nvSpPr>
        <p:spPr>
          <a:xfrm>
            <a:off x="812800" y="2057400"/>
            <a:ext cx="1841500" cy="355600"/>
          </a:xfrm>
          <a:prstGeom prst="roundRect">
            <a:avLst/>
          </a:prstGeom>
          <a:solidFill>
            <a:srgbClr val="28669C"/>
          </a:solidFill>
          <a:ln w="12700">
            <a:solidFill>
              <a:srgbClr val="286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E81644-EC78-481F-3CC8-782303F9C886}"/>
              </a:ext>
            </a:extLst>
          </p:cNvPr>
          <p:cNvSpPr txBox="1"/>
          <p:nvPr/>
        </p:nvSpPr>
        <p:spPr>
          <a:xfrm>
            <a:off x="812800" y="21336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MEMBER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C8FEE-562C-FC71-88DF-BE3BF5DBE435}"/>
              </a:ext>
            </a:extLst>
          </p:cNvPr>
          <p:cNvSpPr txBox="1"/>
          <p:nvPr/>
        </p:nvSpPr>
        <p:spPr>
          <a:xfrm>
            <a:off x="939800" y="2527300"/>
            <a:ext cx="1587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memberNo
userId · points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FF49618-E76B-1B1B-A650-8405DABC947C}"/>
              </a:ext>
            </a:extLst>
          </p:cNvPr>
          <p:cNvSpPr/>
          <p:nvPr/>
        </p:nvSpPr>
        <p:spPr>
          <a:xfrm>
            <a:off x="3454400" y="2057400"/>
            <a:ext cx="1841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D686E84-164B-7D7D-EB86-92E50B52C5D2}"/>
              </a:ext>
            </a:extLst>
          </p:cNvPr>
          <p:cNvSpPr/>
          <p:nvPr/>
        </p:nvSpPr>
        <p:spPr>
          <a:xfrm>
            <a:off x="3454400" y="2057400"/>
            <a:ext cx="1841500" cy="355600"/>
          </a:xfrm>
          <a:prstGeom prst="round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27C5D6-3AB1-BCD6-7BCE-D14630B7EAFC}"/>
              </a:ext>
            </a:extLst>
          </p:cNvPr>
          <p:cNvSpPr txBox="1"/>
          <p:nvPr/>
        </p:nvSpPr>
        <p:spPr>
          <a:xfrm>
            <a:off x="3454400" y="21336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CART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965C97-EDC4-2A3F-3AF8-5045B8731A12}"/>
              </a:ext>
            </a:extLst>
          </p:cNvPr>
          <p:cNvSpPr txBox="1"/>
          <p:nvPr/>
        </p:nvSpPr>
        <p:spPr>
          <a:xfrm>
            <a:off x="3581400" y="2527300"/>
            <a:ext cx="1587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cartNo
FK memberNo · prodNo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ABD366-F5D8-C90A-2B3B-C58E5A6651AB}"/>
              </a:ext>
            </a:extLst>
          </p:cNvPr>
          <p:cNvSpPr/>
          <p:nvPr/>
        </p:nvSpPr>
        <p:spPr>
          <a:xfrm>
            <a:off x="6096000" y="2057400"/>
            <a:ext cx="1841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4C418C6-F32E-599E-DF38-10C68CB2C941}"/>
              </a:ext>
            </a:extLst>
          </p:cNvPr>
          <p:cNvSpPr/>
          <p:nvPr/>
        </p:nvSpPr>
        <p:spPr>
          <a:xfrm>
            <a:off x="6096000" y="2057400"/>
            <a:ext cx="1841500" cy="355600"/>
          </a:xfrm>
          <a:prstGeom prst="roundRect">
            <a:avLst/>
          </a:prstGeom>
          <a:solidFill>
            <a:srgbClr val="419D78"/>
          </a:solidFill>
          <a:ln w="12700">
            <a:solidFill>
              <a:srgbClr val="419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FB96DC-7D1C-4802-B9F1-5E034BF1C4EF}"/>
              </a:ext>
            </a:extLst>
          </p:cNvPr>
          <p:cNvSpPr txBox="1"/>
          <p:nvPr/>
        </p:nvSpPr>
        <p:spPr>
          <a:xfrm>
            <a:off x="6096000" y="21336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349B44-913D-E03A-B96B-228ADC068555}"/>
              </a:ext>
            </a:extLst>
          </p:cNvPr>
          <p:cNvSpPr txBox="1"/>
          <p:nvPr/>
        </p:nvSpPr>
        <p:spPr>
          <a:xfrm>
            <a:off x="6223000" y="2527300"/>
            <a:ext cx="1587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prodNo
FK shopNo · categoryId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6D037C6-344B-8170-41F2-0EE9847BB686}"/>
              </a:ext>
            </a:extLst>
          </p:cNvPr>
          <p:cNvSpPr/>
          <p:nvPr/>
        </p:nvSpPr>
        <p:spPr>
          <a:xfrm>
            <a:off x="8737600" y="2057400"/>
            <a:ext cx="20320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949781F3-8249-C2CD-E57F-AD3053C778D8}"/>
              </a:ext>
            </a:extLst>
          </p:cNvPr>
          <p:cNvSpPr/>
          <p:nvPr/>
        </p:nvSpPr>
        <p:spPr>
          <a:xfrm>
            <a:off x="8737600" y="2057400"/>
            <a:ext cx="2032000" cy="355600"/>
          </a:xfrm>
          <a:prstGeom prst="roundRect">
            <a:avLst/>
          </a:prstGeom>
          <a:solidFill>
            <a:srgbClr val="419D78"/>
          </a:solidFill>
          <a:ln w="12700">
            <a:solidFill>
              <a:srgbClr val="419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3F1332-5A3B-20D3-386A-D68F00F90EB6}"/>
              </a:ext>
            </a:extLst>
          </p:cNvPr>
          <p:cNvSpPr txBox="1"/>
          <p:nvPr/>
        </p:nvSpPr>
        <p:spPr>
          <a:xfrm>
            <a:off x="8737600" y="21336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PRODUCT_SKU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D8E438-32F5-6928-37EE-2112414F8ED2}"/>
              </a:ext>
            </a:extLst>
          </p:cNvPr>
          <p:cNvSpPr txBox="1"/>
          <p:nvPr/>
        </p:nvSpPr>
        <p:spPr>
          <a:xfrm>
            <a:off x="8864600" y="2527300"/>
            <a:ext cx="1778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skuNo
FK prodNo · stock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7B1B31E-92A2-B677-30D5-D7410EC6411F}"/>
              </a:ext>
            </a:extLst>
          </p:cNvPr>
          <p:cNvSpPr/>
          <p:nvPr/>
        </p:nvSpPr>
        <p:spPr>
          <a:xfrm>
            <a:off x="2133600" y="4368800"/>
            <a:ext cx="1968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F71DDEE-0924-9BF4-EDFD-947C23A1AC7C}"/>
              </a:ext>
            </a:extLst>
          </p:cNvPr>
          <p:cNvSpPr/>
          <p:nvPr/>
        </p:nvSpPr>
        <p:spPr>
          <a:xfrm>
            <a:off x="2133600" y="4368800"/>
            <a:ext cx="1968500" cy="355600"/>
          </a:xfrm>
          <a:prstGeom prst="roundRect">
            <a:avLst/>
          </a:prstGeom>
          <a:solidFill>
            <a:srgbClr val="F4914A"/>
          </a:solidFill>
          <a:ln w="12700">
            <a:solidFill>
              <a:srgbClr val="F49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D2DE13C-7206-CA0B-C0F5-D753E8AB0381}"/>
              </a:ext>
            </a:extLst>
          </p:cNvPr>
          <p:cNvSpPr txBox="1"/>
          <p:nvPr/>
        </p:nvSpPr>
        <p:spPr>
          <a:xfrm>
            <a:off x="2133600" y="4445000"/>
            <a:ext cx="196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48269-B552-01C4-6C8E-4E0D497A2B63}"/>
              </a:ext>
            </a:extLst>
          </p:cNvPr>
          <p:cNvSpPr txBox="1"/>
          <p:nvPr/>
        </p:nvSpPr>
        <p:spPr>
          <a:xfrm>
            <a:off x="2260600" y="4838700"/>
            <a:ext cx="1714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orderNo
FK memberNo · status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401A3FF-D81D-BD40-0F3D-3FD4887D72A9}"/>
              </a:ext>
            </a:extLst>
          </p:cNvPr>
          <p:cNvSpPr/>
          <p:nvPr/>
        </p:nvSpPr>
        <p:spPr>
          <a:xfrm>
            <a:off x="5105400" y="4368800"/>
            <a:ext cx="2095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9D35A77-67E4-BA30-C561-CC8410FA0031}"/>
              </a:ext>
            </a:extLst>
          </p:cNvPr>
          <p:cNvSpPr/>
          <p:nvPr/>
        </p:nvSpPr>
        <p:spPr>
          <a:xfrm>
            <a:off x="5105400" y="4368800"/>
            <a:ext cx="2095500" cy="355600"/>
          </a:xfrm>
          <a:prstGeom prst="roundRect">
            <a:avLst/>
          </a:prstGeom>
          <a:solidFill>
            <a:srgbClr val="F4914A"/>
          </a:solidFill>
          <a:ln w="12700">
            <a:solidFill>
              <a:srgbClr val="F49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3336C8-80BF-0C87-8355-51E4E4400118}"/>
              </a:ext>
            </a:extLst>
          </p:cNvPr>
          <p:cNvSpPr txBox="1"/>
          <p:nvPr/>
        </p:nvSpPr>
        <p:spPr>
          <a:xfrm>
            <a:off x="5105400" y="44450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ORDER_DETAILS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FB9C0-73C7-A0E4-3C3B-4CDD3ACD8DA9}"/>
              </a:ext>
            </a:extLst>
          </p:cNvPr>
          <p:cNvSpPr txBox="1"/>
          <p:nvPr/>
        </p:nvSpPr>
        <p:spPr>
          <a:xfrm>
            <a:off x="5232400" y="4838700"/>
            <a:ext cx="184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orderDetailNo
FK orderNo · productNo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0F96D83-5AE5-F1CC-87FB-D50CB8E3532C}"/>
              </a:ext>
            </a:extLst>
          </p:cNvPr>
          <p:cNvSpPr/>
          <p:nvPr/>
        </p:nvSpPr>
        <p:spPr>
          <a:xfrm>
            <a:off x="8255000" y="4368800"/>
            <a:ext cx="2095500" cy="1193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4B3EC9F-2523-8EC2-9A4A-735366E2A362}"/>
              </a:ext>
            </a:extLst>
          </p:cNvPr>
          <p:cNvSpPr/>
          <p:nvPr/>
        </p:nvSpPr>
        <p:spPr>
          <a:xfrm>
            <a:off x="8255000" y="4368800"/>
            <a:ext cx="2095500" cy="355600"/>
          </a:xfrm>
          <a:prstGeom prst="roundRect">
            <a:avLst/>
          </a:prstGeom>
          <a:solidFill>
            <a:srgbClr val="D35555"/>
          </a:solidFill>
          <a:ln w="12700">
            <a:solidFill>
              <a:srgbClr val="D3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F7A3EA-7A52-B7EC-0285-153FE4690339}"/>
              </a:ext>
            </a:extLst>
          </p:cNvPr>
          <p:cNvSpPr txBox="1"/>
          <p:nvPr/>
        </p:nvSpPr>
        <p:spPr>
          <a:xfrm>
            <a:off x="8255000" y="4445000"/>
            <a:ext cx="2095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DELIVERIES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510898-CB26-4135-740B-4059749429F1}"/>
              </a:ext>
            </a:extLst>
          </p:cNvPr>
          <p:cNvSpPr txBox="1"/>
          <p:nvPr/>
        </p:nvSpPr>
        <p:spPr>
          <a:xfrm>
            <a:off x="8382000" y="4838700"/>
            <a:ext cx="18415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PK deliveryNo
FK orderNo · trackingNo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FD0652FD-6BD5-3706-B5B0-A1EF42F36F56}"/>
              </a:ext>
            </a:extLst>
          </p:cNvPr>
          <p:cNvCxnSpPr/>
          <p:nvPr/>
        </p:nvCxnSpPr>
        <p:spPr>
          <a:xfrm>
            <a:off x="2654300" y="2654300"/>
            <a:ext cx="8001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BFE62E2F-7D8E-3A4A-155F-61F87F914A56}"/>
              </a:ext>
            </a:extLst>
          </p:cNvPr>
          <p:cNvCxnSpPr/>
          <p:nvPr/>
        </p:nvCxnSpPr>
        <p:spPr>
          <a:xfrm>
            <a:off x="5295900" y="2654300"/>
            <a:ext cx="8001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B3D9345-213C-B770-3491-5FC29442A5E0}"/>
              </a:ext>
            </a:extLst>
          </p:cNvPr>
          <p:cNvCxnSpPr/>
          <p:nvPr/>
        </p:nvCxnSpPr>
        <p:spPr>
          <a:xfrm>
            <a:off x="7937500" y="2654300"/>
            <a:ext cx="8001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40983F99-FCD1-E992-B043-E4A4266A3986}"/>
              </a:ext>
            </a:extLst>
          </p:cNvPr>
          <p:cNvCxnSpPr/>
          <p:nvPr/>
        </p:nvCxnSpPr>
        <p:spPr>
          <a:xfrm>
            <a:off x="1727200" y="3251200"/>
            <a:ext cx="965200" cy="111760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06FE6638-5A54-894C-0426-D837FB561A2F}"/>
              </a:ext>
            </a:extLst>
          </p:cNvPr>
          <p:cNvCxnSpPr/>
          <p:nvPr/>
        </p:nvCxnSpPr>
        <p:spPr>
          <a:xfrm>
            <a:off x="4102100" y="4965700"/>
            <a:ext cx="1003300" cy="0"/>
          </a:xfrm>
          <a:prstGeom prst="line">
            <a:avLst/>
          </a:prstGeom>
          <a:ln w="25400">
            <a:solidFill>
              <a:srgbClr val="F491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00156F2-4222-0BEC-0A50-50399263FBD0}"/>
              </a:ext>
            </a:extLst>
          </p:cNvPr>
          <p:cNvCxnSpPr/>
          <p:nvPr/>
        </p:nvCxnSpPr>
        <p:spPr>
          <a:xfrm>
            <a:off x="7200900" y="4965700"/>
            <a:ext cx="1054100" cy="0"/>
          </a:xfrm>
          <a:prstGeom prst="line">
            <a:avLst/>
          </a:prstGeom>
          <a:ln w="25400">
            <a:solidFill>
              <a:srgbClr val="F4914A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3DF70BE6-D608-F07A-FD9C-E83D0848C160}"/>
              </a:ext>
            </a:extLst>
          </p:cNvPr>
          <p:cNvCxnSpPr/>
          <p:nvPr/>
        </p:nvCxnSpPr>
        <p:spPr>
          <a:xfrm flipH="1">
            <a:off x="6159500" y="3251200"/>
            <a:ext cx="850900" cy="1117600"/>
          </a:xfrm>
          <a:prstGeom prst="line">
            <a:avLst/>
          </a:prstGeom>
          <a:ln w="25400">
            <a:solidFill>
              <a:srgbClr val="419D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CE589D5-8CC8-0202-A3CA-1FF6913E98F3}"/>
              </a:ext>
            </a:extLst>
          </p:cNvPr>
          <p:cNvSpPr txBox="1"/>
          <p:nvPr/>
        </p:nvSpPr>
        <p:spPr>
          <a:xfrm>
            <a:off x="8445500" y="5969000"/>
            <a:ext cx="2603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발표용 핵심 관계만 단순화한 </a:t>
            </a:r>
            <a:r>
              <a:rPr lang="en-US" altLang="ko-KR" sz="9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ERD</a:t>
            </a:r>
            <a:endParaRPr lang="ko-KR" altLang="en-US" sz="95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5367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0A984EC-907C-3BE5-37DB-B220EC7C0B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32941C-A8BA-2AE2-6561-2C8CFD4A3587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BB8AA14-1644-D1D8-54D5-6A0FC655DF25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B85B7-3F7A-E113-E6F5-0B849E5501D0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 DEMO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12952D-5920-AF1C-AF30-8E049052E92D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구매 시연 흐름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3932E6-21B5-E2DC-C6B2-E8F084BDC040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40AA4EC-4347-8D68-F274-9DE76920D3B3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09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55315A4-6F1F-55FF-908D-34FA08053A3A}"/>
              </a:ext>
            </a:extLst>
          </p:cNvPr>
          <p:cNvCxnSpPr/>
          <p:nvPr/>
        </p:nvCxnSpPr>
        <p:spPr>
          <a:xfrm>
            <a:off x="1346200" y="2921000"/>
            <a:ext cx="11684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E16840EA-83AB-DBE6-B4B3-3616889758C1}"/>
              </a:ext>
            </a:extLst>
          </p:cNvPr>
          <p:cNvSpPr/>
          <p:nvPr/>
        </p:nvSpPr>
        <p:spPr>
          <a:xfrm>
            <a:off x="609600" y="25654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2A1E74-1619-2EE5-CF31-BAD1F677098D}"/>
              </a:ext>
            </a:extLst>
          </p:cNvPr>
          <p:cNvSpPr txBox="1"/>
          <p:nvPr/>
        </p:nvSpPr>
        <p:spPr>
          <a:xfrm>
            <a:off x="2286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649F126-F5CA-FE05-2107-4ED44EFE6EFA}"/>
              </a:ext>
            </a:extLst>
          </p:cNvPr>
          <p:cNvCxnSpPr/>
          <p:nvPr/>
        </p:nvCxnSpPr>
        <p:spPr>
          <a:xfrm>
            <a:off x="3263900" y="2921000"/>
            <a:ext cx="11684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3621070A-04E8-106A-CB14-95F4179ACC00}"/>
              </a:ext>
            </a:extLst>
          </p:cNvPr>
          <p:cNvSpPr/>
          <p:nvPr/>
        </p:nvSpPr>
        <p:spPr>
          <a:xfrm>
            <a:off x="2527300" y="25654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041CDC-7A00-99BB-9F6A-6DFC7A9B4DF5}"/>
              </a:ext>
            </a:extLst>
          </p:cNvPr>
          <p:cNvSpPr txBox="1"/>
          <p:nvPr/>
        </p:nvSpPr>
        <p:spPr>
          <a:xfrm>
            <a:off x="21463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 검색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9C3FAE9-FF4A-8E90-C605-7FE61272C293}"/>
              </a:ext>
            </a:extLst>
          </p:cNvPr>
          <p:cNvCxnSpPr/>
          <p:nvPr/>
        </p:nvCxnSpPr>
        <p:spPr>
          <a:xfrm>
            <a:off x="5181600" y="2921000"/>
            <a:ext cx="11684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타원 15">
            <a:extLst>
              <a:ext uri="{FF2B5EF4-FFF2-40B4-BE49-F238E27FC236}">
                <a16:creationId xmlns:a16="http://schemas.microsoft.com/office/drawing/2014/main" id="{D451DB19-DC3B-1678-71EC-18C64E67ED3E}"/>
              </a:ext>
            </a:extLst>
          </p:cNvPr>
          <p:cNvSpPr/>
          <p:nvPr/>
        </p:nvSpPr>
        <p:spPr>
          <a:xfrm>
            <a:off x="4445000" y="25654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A05EE1-FCD1-C33C-E8F6-F0A36DA6864F}"/>
              </a:ext>
            </a:extLst>
          </p:cNvPr>
          <p:cNvSpPr txBox="1"/>
          <p:nvPr/>
        </p:nvSpPr>
        <p:spPr>
          <a:xfrm>
            <a:off x="40640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  <a:r>
              <a:rPr lang="en-US" altLang="ko-KR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1446304A-2994-F41C-7537-D9B0D1A33C78}"/>
              </a:ext>
            </a:extLst>
          </p:cNvPr>
          <p:cNvCxnSpPr/>
          <p:nvPr/>
        </p:nvCxnSpPr>
        <p:spPr>
          <a:xfrm>
            <a:off x="7099300" y="2921000"/>
            <a:ext cx="11684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7B775574-C286-2992-A640-FB75AB864D68}"/>
              </a:ext>
            </a:extLst>
          </p:cNvPr>
          <p:cNvSpPr/>
          <p:nvPr/>
        </p:nvSpPr>
        <p:spPr>
          <a:xfrm>
            <a:off x="6362700" y="25654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5CA62-B941-CB63-E6AD-AB543DC8BD43}"/>
              </a:ext>
            </a:extLst>
          </p:cNvPr>
          <p:cNvSpPr txBox="1"/>
          <p:nvPr/>
        </p:nvSpPr>
        <p:spPr>
          <a:xfrm>
            <a:off x="59817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43C397-2319-1C83-3AA8-587FD352A165}"/>
              </a:ext>
            </a:extLst>
          </p:cNvPr>
          <p:cNvCxnSpPr/>
          <p:nvPr/>
        </p:nvCxnSpPr>
        <p:spPr>
          <a:xfrm>
            <a:off x="9017000" y="2921000"/>
            <a:ext cx="1168400" cy="0"/>
          </a:xfrm>
          <a:prstGeom prst="line">
            <a:avLst/>
          </a:prstGeom>
          <a:ln w="25400">
            <a:solidFill>
              <a:srgbClr val="2AABB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65AA3A15-5105-47A8-6B82-4DE859035A51}"/>
              </a:ext>
            </a:extLst>
          </p:cNvPr>
          <p:cNvSpPr/>
          <p:nvPr/>
        </p:nvSpPr>
        <p:spPr>
          <a:xfrm>
            <a:off x="8280400" y="2565400"/>
            <a:ext cx="711200" cy="711200"/>
          </a:xfrm>
          <a:prstGeom prst="ellipse">
            <a:avLst/>
          </a:prstGeom>
          <a:solidFill>
            <a:srgbClr val="28669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33A81E-5507-1773-B1DA-69CE277A84B9}"/>
              </a:ext>
            </a:extLst>
          </p:cNvPr>
          <p:cNvSpPr txBox="1"/>
          <p:nvPr/>
        </p:nvSpPr>
        <p:spPr>
          <a:xfrm>
            <a:off x="78994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CB8CCFC-8BB5-BE13-2A89-662F4628B48F}"/>
              </a:ext>
            </a:extLst>
          </p:cNvPr>
          <p:cNvSpPr/>
          <p:nvPr/>
        </p:nvSpPr>
        <p:spPr>
          <a:xfrm>
            <a:off x="10198100" y="2565400"/>
            <a:ext cx="711200" cy="711200"/>
          </a:xfrm>
          <a:prstGeom prst="ellipse">
            <a:avLst/>
          </a:prstGeom>
          <a:solidFill>
            <a:srgbClr val="F491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15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77B08F-6725-7A38-56B3-1DA47E63A504}"/>
              </a:ext>
            </a:extLst>
          </p:cNvPr>
          <p:cNvSpPr txBox="1"/>
          <p:nvPr/>
        </p:nvSpPr>
        <p:spPr>
          <a:xfrm>
            <a:off x="9817100" y="3619500"/>
            <a:ext cx="1473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1D2A3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 완료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37AAFE2-17EF-C45B-15C0-9086913B04EE}"/>
              </a:ext>
            </a:extLst>
          </p:cNvPr>
          <p:cNvSpPr/>
          <p:nvPr/>
        </p:nvSpPr>
        <p:spPr>
          <a:xfrm>
            <a:off x="889000" y="4851400"/>
            <a:ext cx="10414000" cy="914400"/>
          </a:xfrm>
          <a:prstGeom prst="roundRect">
            <a:avLst/>
          </a:prstGeom>
          <a:solidFill>
            <a:srgbClr val="F4F8FB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5F23B3-1DC0-9EED-ED4E-161B3CDC9BA5}"/>
              </a:ext>
            </a:extLst>
          </p:cNvPr>
          <p:cNvSpPr txBox="1"/>
          <p:nvPr/>
        </p:nvSpPr>
        <p:spPr>
          <a:xfrm>
            <a:off x="1168400" y="5067300"/>
            <a:ext cx="1778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시연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D9B8CF-60B3-AB8F-B0BA-F292C2217162}"/>
              </a:ext>
            </a:extLst>
          </p:cNvPr>
          <p:cNvSpPr txBox="1"/>
          <p:nvPr/>
        </p:nvSpPr>
        <p:spPr>
          <a:xfrm>
            <a:off x="3022600" y="5067300"/>
            <a:ext cx="78740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로그인부터 상품 탐색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장바구니</a:t>
            </a:r>
            <a:r>
              <a:rPr lang="en-US" altLang="ko-KR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 완료까지 핵심 구매 흐름을 한 번에 시연</a:t>
            </a:r>
          </a:p>
        </p:txBody>
      </p:sp>
    </p:spTree>
    <p:extLst>
      <p:ext uri="{BB962C8B-B14F-4D97-AF65-F5344CB8AC3E}">
        <p14:creationId xmlns:p14="http://schemas.microsoft.com/office/powerpoint/2010/main" val="300580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9697E3-F196-B3BD-5ECD-D3D801503F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3A04CC8-54B2-D9A2-11AB-4F59D91BAFC3}"/>
              </a:ext>
            </a:extLst>
          </p:cNvPr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39F9B0E-2AD3-4652-D82E-9C99DD068520}"/>
              </a:ext>
            </a:extLst>
          </p:cNvPr>
          <p:cNvSpPr/>
          <p:nvPr/>
        </p:nvSpPr>
        <p:spPr>
          <a:xfrm>
            <a:off x="685800" y="393700"/>
            <a:ext cx="1397000" cy="317500"/>
          </a:xfrm>
          <a:prstGeom prst="roundRect">
            <a:avLst/>
          </a:prstGeom>
          <a:solidFill>
            <a:srgbClr val="E1F3F7"/>
          </a:solidFill>
          <a:ln w="12700">
            <a:solidFill>
              <a:srgbClr val="E1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4A887-7291-EBE8-273B-42C10CA8DEAB}"/>
              </a:ext>
            </a:extLst>
          </p:cNvPr>
          <p:cNvSpPr txBox="1"/>
          <p:nvPr/>
        </p:nvSpPr>
        <p:spPr>
          <a:xfrm>
            <a:off x="685800" y="431800"/>
            <a:ext cx="1397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28669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  DEMO</a:t>
            </a:r>
            <a:endParaRPr lang="ko-KR" altLang="en-US" sz="1000" b="1">
              <a:solidFill>
                <a:srgbClr val="28669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6A689-2787-C58D-B76B-CFA11DC55F82}"/>
              </a:ext>
            </a:extLst>
          </p:cNvPr>
          <p:cNvSpPr txBox="1"/>
          <p:nvPr/>
        </p:nvSpPr>
        <p:spPr>
          <a:xfrm>
            <a:off x="685800" y="8636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관리자</a:t>
            </a:r>
            <a:r>
              <a:rPr lang="en-US" altLang="ko-KR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운영 기능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3CB2810-D9A3-983A-9708-BB0571D1EF2E}"/>
              </a:ext>
            </a:extLst>
          </p:cNvPr>
          <p:cNvCxnSpPr/>
          <p:nvPr/>
        </p:nvCxnSpPr>
        <p:spPr>
          <a:xfrm>
            <a:off x="685800" y="1536700"/>
            <a:ext cx="10820400" cy="0"/>
          </a:xfrm>
          <a:prstGeom prst="line">
            <a:avLst/>
          </a:prstGeom>
          <a:ln w="12700">
            <a:solidFill>
              <a:srgbClr val="D6E0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786C7FF-C6E5-21B2-9E8D-FE11396F8EEA}"/>
              </a:ext>
            </a:extLst>
          </p:cNvPr>
          <p:cNvSpPr txBox="1"/>
          <p:nvPr/>
        </p:nvSpPr>
        <p:spPr>
          <a:xfrm>
            <a:off x="9652000" y="6502400"/>
            <a:ext cx="1854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90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10</a:t>
            </a:r>
            <a:endParaRPr lang="ko-KR" altLang="en-US" sz="900">
              <a:solidFill>
                <a:srgbClr val="5C6C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B913E4A-BC08-1266-275E-45D77EA6A49B}"/>
              </a:ext>
            </a:extLst>
          </p:cNvPr>
          <p:cNvSpPr/>
          <p:nvPr/>
        </p:nvSpPr>
        <p:spPr>
          <a:xfrm>
            <a:off x="685800" y="19812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4E79301-EBAB-99EE-2D44-F80FFFDFC48E}"/>
              </a:ext>
            </a:extLst>
          </p:cNvPr>
          <p:cNvSpPr/>
          <p:nvPr/>
        </p:nvSpPr>
        <p:spPr>
          <a:xfrm>
            <a:off x="685800" y="1981200"/>
            <a:ext cx="88900" cy="1422400"/>
          </a:xfrm>
          <a:prstGeom prst="roundRect">
            <a:avLst/>
          </a:prstGeom>
          <a:solidFill>
            <a:srgbClr val="419D78"/>
          </a:solidFill>
          <a:ln w="12700">
            <a:solidFill>
              <a:srgbClr val="419D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4AA72E-BF86-3843-164E-765539ED4A25}"/>
              </a:ext>
            </a:extLst>
          </p:cNvPr>
          <p:cNvSpPr txBox="1"/>
          <p:nvPr/>
        </p:nvSpPr>
        <p:spPr>
          <a:xfrm>
            <a:off x="965200" y="22098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  <a:r>
              <a:rPr lang="en-US" altLang="ko-KR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3680E8-D538-9D7E-AD7E-DC82F49D59E5}"/>
              </a:ext>
            </a:extLst>
          </p:cNvPr>
          <p:cNvSpPr txBox="1"/>
          <p:nvPr/>
        </p:nvSpPr>
        <p:spPr>
          <a:xfrm>
            <a:off x="965200" y="26670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수정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삭제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옵션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S3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이미지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7E50CB1-73C2-AFF6-4576-A8AB0D1CE11F}"/>
              </a:ext>
            </a:extLst>
          </p:cNvPr>
          <p:cNvSpPr/>
          <p:nvPr/>
        </p:nvSpPr>
        <p:spPr>
          <a:xfrm>
            <a:off x="4483100" y="19812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4CA030-F1D0-33D2-833C-39CD328684D2}"/>
              </a:ext>
            </a:extLst>
          </p:cNvPr>
          <p:cNvSpPr/>
          <p:nvPr/>
        </p:nvSpPr>
        <p:spPr>
          <a:xfrm>
            <a:off x="4483100" y="1981200"/>
            <a:ext cx="88900" cy="1422400"/>
          </a:xfrm>
          <a:prstGeom prst="roundRect">
            <a:avLst/>
          </a:prstGeom>
          <a:solidFill>
            <a:srgbClr val="F4914A"/>
          </a:solidFill>
          <a:ln w="12700">
            <a:solidFill>
              <a:srgbClr val="F491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1CEA0-D3FC-FB71-9014-3665AE901AE8}"/>
              </a:ext>
            </a:extLst>
          </p:cNvPr>
          <p:cNvSpPr txBox="1"/>
          <p:nvPr/>
        </p:nvSpPr>
        <p:spPr>
          <a:xfrm>
            <a:off x="4762500" y="22098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배송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A769FF-9533-5988-EA7B-5B494C88D58B}"/>
              </a:ext>
            </a:extLst>
          </p:cNvPr>
          <p:cNvSpPr txBox="1"/>
          <p:nvPr/>
        </p:nvSpPr>
        <p:spPr>
          <a:xfrm>
            <a:off x="4762500" y="26670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주문상세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 변경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송장 등록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3702DA6-8FB8-76CD-DFFC-9473625CF549}"/>
              </a:ext>
            </a:extLst>
          </p:cNvPr>
          <p:cNvSpPr/>
          <p:nvPr/>
        </p:nvSpPr>
        <p:spPr>
          <a:xfrm>
            <a:off x="8280400" y="19812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7B8C62B-219A-7858-F4BC-0249BA497229}"/>
              </a:ext>
            </a:extLst>
          </p:cNvPr>
          <p:cNvSpPr/>
          <p:nvPr/>
        </p:nvSpPr>
        <p:spPr>
          <a:xfrm>
            <a:off x="8280400" y="1981200"/>
            <a:ext cx="88900" cy="1422400"/>
          </a:xfrm>
          <a:prstGeom prst="roundRect">
            <a:avLst/>
          </a:prstGeom>
          <a:solidFill>
            <a:srgbClr val="28669C"/>
          </a:solidFill>
          <a:ln w="12700">
            <a:solidFill>
              <a:srgbClr val="2866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DD1BE-97F9-CC00-EECC-30DD4B73F79C}"/>
              </a:ext>
            </a:extLst>
          </p:cNvPr>
          <p:cNvSpPr txBox="1"/>
          <p:nvPr/>
        </p:nvSpPr>
        <p:spPr>
          <a:xfrm>
            <a:off x="8559800" y="22098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</a:t>
            </a:r>
            <a:r>
              <a:rPr lang="en-US" altLang="ko-KR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F8630-8E6D-ACA9-7146-358B1FE6C5BB}"/>
              </a:ext>
            </a:extLst>
          </p:cNvPr>
          <p:cNvSpPr txBox="1"/>
          <p:nvPr/>
        </p:nvSpPr>
        <p:spPr>
          <a:xfrm>
            <a:off x="8559800" y="26670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등급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판매자 상점 관리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58862AA-9936-14DF-C805-4160FB90130D}"/>
              </a:ext>
            </a:extLst>
          </p:cNvPr>
          <p:cNvSpPr/>
          <p:nvPr/>
        </p:nvSpPr>
        <p:spPr>
          <a:xfrm>
            <a:off x="685800" y="38608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01E88BD-B3EF-C75C-464D-F18D1D4F790D}"/>
              </a:ext>
            </a:extLst>
          </p:cNvPr>
          <p:cNvSpPr/>
          <p:nvPr/>
        </p:nvSpPr>
        <p:spPr>
          <a:xfrm>
            <a:off x="685800" y="3860800"/>
            <a:ext cx="88900" cy="1422400"/>
          </a:xfrm>
          <a:prstGeom prst="round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ED1F0F-2ED1-37AD-C639-E091AA54C2DD}"/>
              </a:ext>
            </a:extLst>
          </p:cNvPr>
          <p:cNvSpPr txBox="1"/>
          <p:nvPr/>
        </p:nvSpPr>
        <p:spPr>
          <a:xfrm>
            <a:off x="965200" y="40894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설정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3346A4-AC7A-B3F1-FC92-5F1EAC59AE16}"/>
              </a:ext>
            </a:extLst>
          </p:cNvPr>
          <p:cNvSpPr txBox="1"/>
          <p:nvPr/>
        </p:nvSpPr>
        <p:spPr>
          <a:xfrm>
            <a:off x="965200" y="45466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배너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정책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0AC38FE-9710-1C62-86FA-6C8F4341583F}"/>
              </a:ext>
            </a:extLst>
          </p:cNvPr>
          <p:cNvSpPr/>
          <p:nvPr/>
        </p:nvSpPr>
        <p:spPr>
          <a:xfrm>
            <a:off x="4483100" y="38608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4BF3BC-CD95-B09F-191C-3D6E6DC59992}"/>
              </a:ext>
            </a:extLst>
          </p:cNvPr>
          <p:cNvSpPr/>
          <p:nvPr/>
        </p:nvSpPr>
        <p:spPr>
          <a:xfrm>
            <a:off x="4483100" y="3860800"/>
            <a:ext cx="88900" cy="1422400"/>
          </a:xfrm>
          <a:prstGeom prst="roundRect">
            <a:avLst/>
          </a:prstGeom>
          <a:solidFill>
            <a:srgbClr val="D35555"/>
          </a:solidFill>
          <a:ln w="12700">
            <a:solidFill>
              <a:srgbClr val="D3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976875-3A5C-5774-FAC6-EDC7EB8647A3}"/>
              </a:ext>
            </a:extLst>
          </p:cNvPr>
          <p:cNvSpPr txBox="1"/>
          <p:nvPr/>
        </p:nvSpPr>
        <p:spPr>
          <a:xfrm>
            <a:off x="4762500" y="40894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F89F37-809F-4A5D-FE21-5AE38D8204CE}"/>
              </a:ext>
            </a:extLst>
          </p:cNvPr>
          <p:cNvSpPr txBox="1"/>
          <p:nvPr/>
        </p:nvSpPr>
        <p:spPr>
          <a:xfrm>
            <a:off x="4762500" y="45466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FAQ · Q&amp;A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414E762-7D58-AC80-E915-8961991F20EB}"/>
              </a:ext>
            </a:extLst>
          </p:cNvPr>
          <p:cNvSpPr/>
          <p:nvPr/>
        </p:nvSpPr>
        <p:spPr>
          <a:xfrm>
            <a:off x="8280400" y="3860800"/>
            <a:ext cx="32385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E9CA572-AF71-4B35-EBC4-5FC8A82DB562}"/>
              </a:ext>
            </a:extLst>
          </p:cNvPr>
          <p:cNvSpPr/>
          <p:nvPr/>
        </p:nvSpPr>
        <p:spPr>
          <a:xfrm>
            <a:off x="8280400" y="3860800"/>
            <a:ext cx="88900" cy="1422400"/>
          </a:xfrm>
          <a:prstGeom prst="roundRect">
            <a:avLst/>
          </a:prstGeom>
          <a:solidFill>
            <a:srgbClr val="122C45"/>
          </a:solidFill>
          <a:ln w="12700">
            <a:solidFill>
              <a:srgbClr val="122C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93F3E4-6401-19C0-B13A-0757CAF7A59E}"/>
              </a:ext>
            </a:extLst>
          </p:cNvPr>
          <p:cNvSpPr txBox="1"/>
          <p:nvPr/>
        </p:nvSpPr>
        <p:spPr>
          <a:xfrm>
            <a:off x="8559800" y="4089400"/>
            <a:ext cx="275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매출</a:t>
            </a:r>
            <a:r>
              <a:rPr lang="en-US" altLang="ko-KR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7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525838-AB21-8B51-20FA-9BFE4A7DD010}"/>
              </a:ext>
            </a:extLst>
          </p:cNvPr>
          <p:cNvSpPr txBox="1"/>
          <p:nvPr/>
        </p:nvSpPr>
        <p:spPr>
          <a:xfrm>
            <a:off x="8559800" y="4546600"/>
            <a:ext cx="27559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통계 대시보드 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쿠폰 등록</a:t>
            </a:r>
            <a:r>
              <a:rPr lang="en-US" altLang="ko-KR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50">
                <a:solidFill>
                  <a:srgbClr val="5C6C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</a:t>
            </a:r>
          </a:p>
        </p:txBody>
      </p:sp>
    </p:spTree>
    <p:extLst>
      <p:ext uri="{BB962C8B-B14F-4D97-AF65-F5344CB8AC3E}">
        <p14:creationId xmlns:p14="http://schemas.microsoft.com/office/powerpoint/2010/main" val="1395726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114A8BD-4132-0608-EF44-1654CCDF46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C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122C45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7FDF4DC-CA91-4EC2-9256-F9736F204375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2AABBE"/>
          </a:solidFill>
          <a:ln w="12700">
            <a:solidFill>
              <a:srgbClr val="2AAB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C01A55-477D-D015-FD3D-5C268FEBFA05}"/>
              </a:ext>
            </a:extLst>
          </p:cNvPr>
          <p:cNvSpPr txBox="1"/>
          <p:nvPr/>
        </p:nvSpPr>
        <p:spPr>
          <a:xfrm>
            <a:off x="914400" y="1168400"/>
            <a:ext cx="228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2AAB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  Q&amp;A</a:t>
            </a:r>
            <a:endParaRPr lang="ko-KR" altLang="en-US" sz="1200" b="1">
              <a:solidFill>
                <a:srgbClr val="2AABB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1845AE-0645-7F65-DB27-6C07C6ED9B14}"/>
              </a:ext>
            </a:extLst>
          </p:cNvPr>
          <p:cNvSpPr txBox="1"/>
          <p:nvPr/>
        </p:nvSpPr>
        <p:spPr>
          <a:xfrm>
            <a:off x="889000" y="2032000"/>
            <a:ext cx="8255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4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및 답변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74E3F4-A2E7-0E68-A033-C2E49DD92676}"/>
              </a:ext>
            </a:extLst>
          </p:cNvPr>
          <p:cNvSpPr txBox="1"/>
          <p:nvPr/>
        </p:nvSpPr>
        <p:spPr>
          <a:xfrm>
            <a:off x="914400" y="32004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200">
                <a:solidFill>
                  <a:srgbClr val="CDE0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2200">
                <a:solidFill>
                  <a:srgbClr val="CDE0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2200">
              <a:solidFill>
                <a:srgbClr val="CDE0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0481B90-D3D2-27DA-91ED-22A4B234D4DB}"/>
              </a:ext>
            </a:extLst>
          </p:cNvPr>
          <p:cNvCxnSpPr/>
          <p:nvPr/>
        </p:nvCxnSpPr>
        <p:spPr>
          <a:xfrm>
            <a:off x="914400" y="4191000"/>
            <a:ext cx="10363200" cy="0"/>
          </a:xfrm>
          <a:prstGeom prst="line">
            <a:avLst/>
          </a:prstGeom>
          <a:ln w="12700">
            <a:solidFill>
              <a:srgbClr val="4B6B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338676E-09BF-C574-3F41-BD7DE9120477}"/>
              </a:ext>
            </a:extLst>
          </p:cNvPr>
          <p:cNvSpPr txBox="1"/>
          <p:nvPr/>
        </p:nvSpPr>
        <p:spPr>
          <a:xfrm>
            <a:off x="914400" y="45974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2AABB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K-Market  |  Spring Boot Team Project</a:t>
            </a:r>
            <a:endParaRPr lang="ko-KR" altLang="en-US" sz="1300" b="1">
              <a:solidFill>
                <a:srgbClr val="2AABB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A4EF11-A50C-B26E-814A-0990F01A0FB7}"/>
              </a:ext>
            </a:extLst>
          </p:cNvPr>
          <p:cNvSpPr/>
          <p:nvPr/>
        </p:nvSpPr>
        <p:spPr>
          <a:xfrm>
            <a:off x="9880600" y="1574800"/>
            <a:ext cx="1524000" cy="1524000"/>
          </a:xfrm>
          <a:prstGeom prst="ellipse">
            <a:avLst/>
          </a:prstGeom>
          <a:solidFill>
            <a:srgbClr val="2AABB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800" b="1">
                <a:solidFill>
                  <a:srgbClr val="122C4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4800" b="1">
              <a:solidFill>
                <a:srgbClr val="122C4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3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</Words>
  <Application>Microsoft Office PowerPoint</Application>
  <PresentationFormat>사용자 지정</PresentationFormat>
  <Paragraphs>182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1</cp:revision>
  <dcterms:created xsi:type="dcterms:W3CDTF">2026-07-15T00:16:48Z</dcterms:created>
  <dcterms:modified xsi:type="dcterms:W3CDTF">2026-07-15T00:16:49Z</dcterms:modified>
</cp:coreProperties>
</file>